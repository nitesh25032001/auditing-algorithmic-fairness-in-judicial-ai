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3"/>
  </p:notesMasterIdLst>
  <p:sldIdLst>
    <p:sldId id="256" r:id="rId2"/>
    <p:sldId id="324" r:id="rId3"/>
    <p:sldId id="260" r:id="rId4"/>
    <p:sldId id="325" r:id="rId5"/>
    <p:sldId id="264" r:id="rId6"/>
    <p:sldId id="265" r:id="rId7"/>
    <p:sldId id="312" r:id="rId8"/>
    <p:sldId id="326" r:id="rId9"/>
    <p:sldId id="316" r:id="rId10"/>
    <p:sldId id="317" r:id="rId11"/>
    <p:sldId id="321" r:id="rId12"/>
  </p:sldIdLst>
  <p:sldSz cx="12801600" cy="7315200"/>
  <p:notesSz cx="6858000" cy="9144000"/>
  <p:defaultTextStyle>
    <a:defPPr>
      <a:defRPr lang="en-US"/>
    </a:defPPr>
    <a:lvl1pPr marL="0" algn="l" defTabSz="1149448" rtl="0" eaLnBrk="1" latinLnBrk="0" hangingPunct="1">
      <a:defRPr sz="2300" kern="1200">
        <a:solidFill>
          <a:schemeClr val="tx1"/>
        </a:solidFill>
        <a:latin typeface="+mn-lt"/>
        <a:ea typeface="+mn-ea"/>
        <a:cs typeface="+mn-cs"/>
      </a:defRPr>
    </a:lvl1pPr>
    <a:lvl2pPr marL="574724" algn="l" defTabSz="1149448" rtl="0" eaLnBrk="1" latinLnBrk="0" hangingPunct="1">
      <a:defRPr sz="2300" kern="1200">
        <a:solidFill>
          <a:schemeClr val="tx1"/>
        </a:solidFill>
        <a:latin typeface="+mn-lt"/>
        <a:ea typeface="+mn-ea"/>
        <a:cs typeface="+mn-cs"/>
      </a:defRPr>
    </a:lvl2pPr>
    <a:lvl3pPr marL="1149448" algn="l" defTabSz="1149448" rtl="0" eaLnBrk="1" latinLnBrk="0" hangingPunct="1">
      <a:defRPr sz="2300" kern="1200">
        <a:solidFill>
          <a:schemeClr val="tx1"/>
        </a:solidFill>
        <a:latin typeface="+mn-lt"/>
        <a:ea typeface="+mn-ea"/>
        <a:cs typeface="+mn-cs"/>
      </a:defRPr>
    </a:lvl3pPr>
    <a:lvl4pPr marL="1724172" algn="l" defTabSz="1149448" rtl="0" eaLnBrk="1" latinLnBrk="0" hangingPunct="1">
      <a:defRPr sz="2300" kern="1200">
        <a:solidFill>
          <a:schemeClr val="tx1"/>
        </a:solidFill>
        <a:latin typeface="+mn-lt"/>
        <a:ea typeface="+mn-ea"/>
        <a:cs typeface="+mn-cs"/>
      </a:defRPr>
    </a:lvl4pPr>
    <a:lvl5pPr marL="2298895" algn="l" defTabSz="1149448" rtl="0" eaLnBrk="1" latinLnBrk="0" hangingPunct="1">
      <a:defRPr sz="2300" kern="1200">
        <a:solidFill>
          <a:schemeClr val="tx1"/>
        </a:solidFill>
        <a:latin typeface="+mn-lt"/>
        <a:ea typeface="+mn-ea"/>
        <a:cs typeface="+mn-cs"/>
      </a:defRPr>
    </a:lvl5pPr>
    <a:lvl6pPr marL="2873621" algn="l" defTabSz="1149448" rtl="0" eaLnBrk="1" latinLnBrk="0" hangingPunct="1">
      <a:defRPr sz="2300" kern="1200">
        <a:solidFill>
          <a:schemeClr val="tx1"/>
        </a:solidFill>
        <a:latin typeface="+mn-lt"/>
        <a:ea typeface="+mn-ea"/>
        <a:cs typeface="+mn-cs"/>
      </a:defRPr>
    </a:lvl6pPr>
    <a:lvl7pPr marL="3448344" algn="l" defTabSz="1149448" rtl="0" eaLnBrk="1" latinLnBrk="0" hangingPunct="1">
      <a:defRPr sz="2300" kern="1200">
        <a:solidFill>
          <a:schemeClr val="tx1"/>
        </a:solidFill>
        <a:latin typeface="+mn-lt"/>
        <a:ea typeface="+mn-ea"/>
        <a:cs typeface="+mn-cs"/>
      </a:defRPr>
    </a:lvl7pPr>
    <a:lvl8pPr marL="4023069" algn="l" defTabSz="1149448" rtl="0" eaLnBrk="1" latinLnBrk="0" hangingPunct="1">
      <a:defRPr sz="2300" kern="1200">
        <a:solidFill>
          <a:schemeClr val="tx1"/>
        </a:solidFill>
        <a:latin typeface="+mn-lt"/>
        <a:ea typeface="+mn-ea"/>
        <a:cs typeface="+mn-cs"/>
      </a:defRPr>
    </a:lvl8pPr>
    <a:lvl9pPr marL="4597793" algn="l" defTabSz="1149448" rtl="0" eaLnBrk="1" latinLnBrk="0" hangingPunct="1">
      <a:defRPr sz="23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04">
          <p15:clr>
            <a:srgbClr val="A4A3A4"/>
          </p15:clr>
        </p15:guide>
        <p15:guide id="2" pos="40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E1F2"/>
    <a:srgbClr val="558ED5"/>
    <a:srgbClr val="C6D9F1"/>
    <a:srgbClr val="558E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3" d="100"/>
          <a:sy n="73" d="100"/>
        </p:scale>
        <p:origin x="902" y="19"/>
      </p:cViewPr>
      <p:guideLst>
        <p:guide orient="horz" pos="2304"/>
        <p:guide pos="403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4CD7A36-15CF-4B40-B7C9-B299C824610E}" type="datetimeFigureOut">
              <a:rPr lang="en-US" smtClean="0"/>
              <a:t>2/24/2026</a:t>
            </a:fld>
            <a:endParaRPr lang="en-US"/>
          </a:p>
        </p:txBody>
      </p:sp>
      <p:sp>
        <p:nvSpPr>
          <p:cNvPr id="4" name="Slide Image Placeholder 3"/>
          <p:cNvSpPr>
            <a:spLocks noGrp="1" noRot="1" noChangeAspect="1"/>
          </p:cNvSpPr>
          <p:nvPr>
            <p:ph type="sldImg" idx="2"/>
          </p:nvPr>
        </p:nvSpPr>
        <p:spPr>
          <a:xfrm>
            <a:off x="428625" y="685800"/>
            <a:ext cx="600075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3DE4103-D868-498D-BB7B-ABDA25F9744E}" type="slidenum">
              <a:rPr lang="en-US" smtClean="0"/>
              <a:t>‹#›</a:t>
            </a:fld>
            <a:endParaRPr lang="en-US"/>
          </a:p>
        </p:txBody>
      </p:sp>
    </p:spTree>
    <p:extLst>
      <p:ext uri="{BB962C8B-B14F-4D97-AF65-F5344CB8AC3E}">
        <p14:creationId xmlns:p14="http://schemas.microsoft.com/office/powerpoint/2010/main" val="4146365420"/>
      </p:ext>
    </p:extLst>
  </p:cSld>
  <p:clrMap bg1="lt1" tx1="dk1" bg2="lt2" tx2="dk2" accent1="accent1" accent2="accent2" accent3="accent3" accent4="accent4" accent5="accent5" accent6="accent6" hlink="hlink" folHlink="folHlink"/>
  <p:notesStyle>
    <a:lvl1pPr marL="0" algn="l" defTabSz="1149448" rtl="0" eaLnBrk="1" latinLnBrk="0" hangingPunct="1">
      <a:defRPr sz="1500" kern="1200">
        <a:solidFill>
          <a:schemeClr val="tx1"/>
        </a:solidFill>
        <a:latin typeface="+mn-lt"/>
        <a:ea typeface="+mn-ea"/>
        <a:cs typeface="+mn-cs"/>
      </a:defRPr>
    </a:lvl1pPr>
    <a:lvl2pPr marL="574724" algn="l" defTabSz="1149448" rtl="0" eaLnBrk="1" latinLnBrk="0" hangingPunct="1">
      <a:defRPr sz="1500" kern="1200">
        <a:solidFill>
          <a:schemeClr val="tx1"/>
        </a:solidFill>
        <a:latin typeface="+mn-lt"/>
        <a:ea typeface="+mn-ea"/>
        <a:cs typeface="+mn-cs"/>
      </a:defRPr>
    </a:lvl2pPr>
    <a:lvl3pPr marL="1149448" algn="l" defTabSz="1149448" rtl="0" eaLnBrk="1" latinLnBrk="0" hangingPunct="1">
      <a:defRPr sz="1500" kern="1200">
        <a:solidFill>
          <a:schemeClr val="tx1"/>
        </a:solidFill>
        <a:latin typeface="+mn-lt"/>
        <a:ea typeface="+mn-ea"/>
        <a:cs typeface="+mn-cs"/>
      </a:defRPr>
    </a:lvl3pPr>
    <a:lvl4pPr marL="1724172" algn="l" defTabSz="1149448" rtl="0" eaLnBrk="1" latinLnBrk="0" hangingPunct="1">
      <a:defRPr sz="1500" kern="1200">
        <a:solidFill>
          <a:schemeClr val="tx1"/>
        </a:solidFill>
        <a:latin typeface="+mn-lt"/>
        <a:ea typeface="+mn-ea"/>
        <a:cs typeface="+mn-cs"/>
      </a:defRPr>
    </a:lvl4pPr>
    <a:lvl5pPr marL="2298895" algn="l" defTabSz="1149448" rtl="0" eaLnBrk="1" latinLnBrk="0" hangingPunct="1">
      <a:defRPr sz="1500" kern="1200">
        <a:solidFill>
          <a:schemeClr val="tx1"/>
        </a:solidFill>
        <a:latin typeface="+mn-lt"/>
        <a:ea typeface="+mn-ea"/>
        <a:cs typeface="+mn-cs"/>
      </a:defRPr>
    </a:lvl5pPr>
    <a:lvl6pPr marL="2873621" algn="l" defTabSz="1149448" rtl="0" eaLnBrk="1" latinLnBrk="0" hangingPunct="1">
      <a:defRPr sz="1500" kern="1200">
        <a:solidFill>
          <a:schemeClr val="tx1"/>
        </a:solidFill>
        <a:latin typeface="+mn-lt"/>
        <a:ea typeface="+mn-ea"/>
        <a:cs typeface="+mn-cs"/>
      </a:defRPr>
    </a:lvl6pPr>
    <a:lvl7pPr marL="3448344" algn="l" defTabSz="1149448" rtl="0" eaLnBrk="1" latinLnBrk="0" hangingPunct="1">
      <a:defRPr sz="1500" kern="1200">
        <a:solidFill>
          <a:schemeClr val="tx1"/>
        </a:solidFill>
        <a:latin typeface="+mn-lt"/>
        <a:ea typeface="+mn-ea"/>
        <a:cs typeface="+mn-cs"/>
      </a:defRPr>
    </a:lvl7pPr>
    <a:lvl8pPr marL="4023069" algn="l" defTabSz="1149448" rtl="0" eaLnBrk="1" latinLnBrk="0" hangingPunct="1">
      <a:defRPr sz="1500" kern="1200">
        <a:solidFill>
          <a:schemeClr val="tx1"/>
        </a:solidFill>
        <a:latin typeface="+mn-lt"/>
        <a:ea typeface="+mn-ea"/>
        <a:cs typeface="+mn-cs"/>
      </a:defRPr>
    </a:lvl8pPr>
    <a:lvl9pPr marL="4597793" algn="l" defTabSz="1149448" rtl="0" eaLnBrk="1" latinLnBrk="0" hangingPunct="1">
      <a:defRPr sz="15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60120" y="2272456"/>
            <a:ext cx="10881360" cy="1568027"/>
          </a:xfrm>
        </p:spPr>
        <p:txBody>
          <a:bodyPr/>
          <a:lstStyle/>
          <a:p>
            <a:r>
              <a:rPr lang="en-US"/>
              <a:t>Click to edit Master title style</a:t>
            </a:r>
          </a:p>
        </p:txBody>
      </p:sp>
      <p:sp>
        <p:nvSpPr>
          <p:cNvPr id="3" name="Subtitle 2"/>
          <p:cNvSpPr>
            <a:spLocks noGrp="1"/>
          </p:cNvSpPr>
          <p:nvPr>
            <p:ph type="subTitle" idx="1"/>
          </p:nvPr>
        </p:nvSpPr>
        <p:spPr>
          <a:xfrm>
            <a:off x="1920240" y="4145280"/>
            <a:ext cx="8961120" cy="1869440"/>
          </a:xfrm>
        </p:spPr>
        <p:txBody>
          <a:bodyPr/>
          <a:lstStyle>
            <a:lvl1pPr marL="0" indent="0" algn="ctr">
              <a:buNone/>
              <a:defRPr>
                <a:solidFill>
                  <a:schemeClr val="tx1">
                    <a:tint val="75000"/>
                  </a:schemeClr>
                </a:solidFill>
              </a:defRPr>
            </a:lvl1pPr>
            <a:lvl2pPr marL="574724" indent="0" algn="ctr">
              <a:buNone/>
              <a:defRPr>
                <a:solidFill>
                  <a:schemeClr val="tx1">
                    <a:tint val="75000"/>
                  </a:schemeClr>
                </a:solidFill>
              </a:defRPr>
            </a:lvl2pPr>
            <a:lvl3pPr marL="1149448" indent="0" algn="ctr">
              <a:buNone/>
              <a:defRPr>
                <a:solidFill>
                  <a:schemeClr val="tx1">
                    <a:tint val="75000"/>
                  </a:schemeClr>
                </a:solidFill>
              </a:defRPr>
            </a:lvl3pPr>
            <a:lvl4pPr marL="1724172" indent="0" algn="ctr">
              <a:buNone/>
              <a:defRPr>
                <a:solidFill>
                  <a:schemeClr val="tx1">
                    <a:tint val="75000"/>
                  </a:schemeClr>
                </a:solidFill>
              </a:defRPr>
            </a:lvl4pPr>
            <a:lvl5pPr marL="2298895" indent="0" algn="ctr">
              <a:buNone/>
              <a:defRPr>
                <a:solidFill>
                  <a:schemeClr val="tx1">
                    <a:tint val="75000"/>
                  </a:schemeClr>
                </a:solidFill>
              </a:defRPr>
            </a:lvl5pPr>
            <a:lvl6pPr marL="2873621" indent="0" algn="ctr">
              <a:buNone/>
              <a:defRPr>
                <a:solidFill>
                  <a:schemeClr val="tx1">
                    <a:tint val="75000"/>
                  </a:schemeClr>
                </a:solidFill>
              </a:defRPr>
            </a:lvl6pPr>
            <a:lvl7pPr marL="3448344" indent="0" algn="ctr">
              <a:buNone/>
              <a:defRPr>
                <a:solidFill>
                  <a:schemeClr val="tx1">
                    <a:tint val="75000"/>
                  </a:schemeClr>
                </a:solidFill>
              </a:defRPr>
            </a:lvl7pPr>
            <a:lvl8pPr marL="4023069" indent="0" algn="ctr">
              <a:buNone/>
              <a:defRPr>
                <a:solidFill>
                  <a:schemeClr val="tx1">
                    <a:tint val="75000"/>
                  </a:schemeClr>
                </a:solidFill>
              </a:defRPr>
            </a:lvl8pPr>
            <a:lvl9pPr marL="4597793"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C2E1E87-9C15-4984-91E0-215221CAF7F6}" type="datetime1">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2505882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1116BE9-D6CB-4D14-A12D-7F5512E1435B}" type="datetime1">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141061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11238" y="4700695"/>
            <a:ext cx="10881360" cy="1452880"/>
          </a:xfrm>
        </p:spPr>
        <p:txBody>
          <a:bodyPr anchor="t"/>
          <a:lstStyle>
            <a:lvl1pPr algn="l">
              <a:defRPr sz="5100" b="1" cap="all"/>
            </a:lvl1pPr>
          </a:lstStyle>
          <a:p>
            <a:r>
              <a:rPr lang="en-US"/>
              <a:t>Click to edit Master title style</a:t>
            </a:r>
          </a:p>
        </p:txBody>
      </p:sp>
      <p:sp>
        <p:nvSpPr>
          <p:cNvPr id="3" name="Text Placeholder 2"/>
          <p:cNvSpPr>
            <a:spLocks noGrp="1"/>
          </p:cNvSpPr>
          <p:nvPr>
            <p:ph type="body" idx="1"/>
          </p:nvPr>
        </p:nvSpPr>
        <p:spPr>
          <a:xfrm>
            <a:off x="1011238" y="3100496"/>
            <a:ext cx="10881360" cy="1600199"/>
          </a:xfrm>
        </p:spPr>
        <p:txBody>
          <a:bodyPr anchor="b"/>
          <a:lstStyle>
            <a:lvl1pPr marL="0" indent="0">
              <a:buNone/>
              <a:defRPr sz="2500">
                <a:solidFill>
                  <a:schemeClr val="tx1">
                    <a:tint val="75000"/>
                  </a:schemeClr>
                </a:solidFill>
              </a:defRPr>
            </a:lvl1pPr>
            <a:lvl2pPr marL="574724" indent="0">
              <a:buNone/>
              <a:defRPr sz="2300">
                <a:solidFill>
                  <a:schemeClr val="tx1">
                    <a:tint val="75000"/>
                  </a:schemeClr>
                </a:solidFill>
              </a:defRPr>
            </a:lvl2pPr>
            <a:lvl3pPr marL="1149448" indent="0">
              <a:buNone/>
              <a:defRPr sz="2000">
                <a:solidFill>
                  <a:schemeClr val="tx1">
                    <a:tint val="75000"/>
                  </a:schemeClr>
                </a:solidFill>
              </a:defRPr>
            </a:lvl3pPr>
            <a:lvl4pPr marL="1724172" indent="0">
              <a:buNone/>
              <a:defRPr sz="1800">
                <a:solidFill>
                  <a:schemeClr val="tx1">
                    <a:tint val="75000"/>
                  </a:schemeClr>
                </a:solidFill>
              </a:defRPr>
            </a:lvl4pPr>
            <a:lvl5pPr marL="2298895" indent="0">
              <a:buNone/>
              <a:defRPr sz="1800">
                <a:solidFill>
                  <a:schemeClr val="tx1">
                    <a:tint val="75000"/>
                  </a:schemeClr>
                </a:solidFill>
              </a:defRPr>
            </a:lvl5pPr>
            <a:lvl6pPr marL="2873621" indent="0">
              <a:buNone/>
              <a:defRPr sz="1800">
                <a:solidFill>
                  <a:schemeClr val="tx1">
                    <a:tint val="75000"/>
                  </a:schemeClr>
                </a:solidFill>
              </a:defRPr>
            </a:lvl6pPr>
            <a:lvl7pPr marL="3448344" indent="0">
              <a:buNone/>
              <a:defRPr sz="1800">
                <a:solidFill>
                  <a:schemeClr val="tx1">
                    <a:tint val="75000"/>
                  </a:schemeClr>
                </a:solidFill>
              </a:defRPr>
            </a:lvl7pPr>
            <a:lvl8pPr marL="4023069" indent="0">
              <a:buNone/>
              <a:defRPr sz="1800">
                <a:solidFill>
                  <a:schemeClr val="tx1">
                    <a:tint val="75000"/>
                  </a:schemeClr>
                </a:solidFill>
              </a:defRPr>
            </a:lvl8pPr>
            <a:lvl9pPr marL="4597793" indent="0">
              <a:buNone/>
              <a:defRPr sz="18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2A9D04-24B9-408C-A000-3B78FDBD0AEB}" type="datetime1">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486023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40080" y="1706880"/>
            <a:ext cx="5654040" cy="4827694"/>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07480" y="1706880"/>
            <a:ext cx="5654040" cy="4827694"/>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2B91B48-F2B5-44C0-A324-732125246729}" type="datetime1">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4189833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40080" y="1637454"/>
            <a:ext cx="5656263" cy="682414"/>
          </a:xfrm>
        </p:spPr>
        <p:txBody>
          <a:bodyPr anchor="b"/>
          <a:lstStyle>
            <a:lvl1pPr marL="0" indent="0">
              <a:buNone/>
              <a:defRPr sz="3000" b="1"/>
            </a:lvl1pPr>
            <a:lvl2pPr marL="574724" indent="0">
              <a:buNone/>
              <a:defRPr sz="2500" b="1"/>
            </a:lvl2pPr>
            <a:lvl3pPr marL="1149448" indent="0">
              <a:buNone/>
              <a:defRPr sz="2300" b="1"/>
            </a:lvl3pPr>
            <a:lvl4pPr marL="1724172" indent="0">
              <a:buNone/>
              <a:defRPr sz="2000" b="1"/>
            </a:lvl4pPr>
            <a:lvl5pPr marL="2298895" indent="0">
              <a:buNone/>
              <a:defRPr sz="2000" b="1"/>
            </a:lvl5pPr>
            <a:lvl6pPr marL="2873621" indent="0">
              <a:buNone/>
              <a:defRPr sz="2000" b="1"/>
            </a:lvl6pPr>
            <a:lvl7pPr marL="3448344" indent="0">
              <a:buNone/>
              <a:defRPr sz="2000" b="1"/>
            </a:lvl7pPr>
            <a:lvl8pPr marL="4023069" indent="0">
              <a:buNone/>
              <a:defRPr sz="2000" b="1"/>
            </a:lvl8pPr>
            <a:lvl9pPr marL="4597793" indent="0">
              <a:buNone/>
              <a:defRPr sz="2000" b="1"/>
            </a:lvl9pPr>
          </a:lstStyle>
          <a:p>
            <a:pPr lvl="0"/>
            <a:r>
              <a:rPr lang="en-US"/>
              <a:t>Click to edit Master text styles</a:t>
            </a:r>
          </a:p>
        </p:txBody>
      </p:sp>
      <p:sp>
        <p:nvSpPr>
          <p:cNvPr id="4" name="Content Placeholder 3"/>
          <p:cNvSpPr>
            <a:spLocks noGrp="1"/>
          </p:cNvSpPr>
          <p:nvPr>
            <p:ph sz="half" idx="2"/>
          </p:nvPr>
        </p:nvSpPr>
        <p:spPr>
          <a:xfrm>
            <a:off x="640080" y="2319868"/>
            <a:ext cx="5656263" cy="4214707"/>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03037" y="1637454"/>
            <a:ext cx="5658485" cy="682414"/>
          </a:xfrm>
        </p:spPr>
        <p:txBody>
          <a:bodyPr anchor="b"/>
          <a:lstStyle>
            <a:lvl1pPr marL="0" indent="0">
              <a:buNone/>
              <a:defRPr sz="3000" b="1"/>
            </a:lvl1pPr>
            <a:lvl2pPr marL="574724" indent="0">
              <a:buNone/>
              <a:defRPr sz="2500" b="1"/>
            </a:lvl2pPr>
            <a:lvl3pPr marL="1149448" indent="0">
              <a:buNone/>
              <a:defRPr sz="2300" b="1"/>
            </a:lvl3pPr>
            <a:lvl4pPr marL="1724172" indent="0">
              <a:buNone/>
              <a:defRPr sz="2000" b="1"/>
            </a:lvl4pPr>
            <a:lvl5pPr marL="2298895" indent="0">
              <a:buNone/>
              <a:defRPr sz="2000" b="1"/>
            </a:lvl5pPr>
            <a:lvl6pPr marL="2873621" indent="0">
              <a:buNone/>
              <a:defRPr sz="2000" b="1"/>
            </a:lvl6pPr>
            <a:lvl7pPr marL="3448344" indent="0">
              <a:buNone/>
              <a:defRPr sz="2000" b="1"/>
            </a:lvl7pPr>
            <a:lvl8pPr marL="4023069" indent="0">
              <a:buNone/>
              <a:defRPr sz="2000" b="1"/>
            </a:lvl8pPr>
            <a:lvl9pPr marL="4597793" indent="0">
              <a:buNone/>
              <a:defRPr sz="2000" b="1"/>
            </a:lvl9pPr>
          </a:lstStyle>
          <a:p>
            <a:pPr lvl="0"/>
            <a:r>
              <a:rPr lang="en-US"/>
              <a:t>Click to edit Master text styles</a:t>
            </a:r>
          </a:p>
        </p:txBody>
      </p:sp>
      <p:sp>
        <p:nvSpPr>
          <p:cNvPr id="6" name="Content Placeholder 5"/>
          <p:cNvSpPr>
            <a:spLocks noGrp="1"/>
          </p:cNvSpPr>
          <p:nvPr>
            <p:ph sz="quarter" idx="4"/>
          </p:nvPr>
        </p:nvSpPr>
        <p:spPr>
          <a:xfrm>
            <a:off x="6503037" y="2319868"/>
            <a:ext cx="5658485" cy="4214707"/>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8337E91-F602-4F18-92CA-FB1A231376B0}" type="datetime1">
              <a:rPr lang="en-US" smtClean="0"/>
              <a:t>2/24/2026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79367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0818EFE-411D-495F-AE32-482368671348}" type="datetime1">
              <a:rPr lang="en-US" smtClean="0"/>
              <a:t>2/24/2026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2036217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6129DD-E279-4A67-BA32-75987FE76FB7}" type="datetime1">
              <a:rPr lang="en-US" smtClean="0"/>
              <a:t>2/24/2026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844010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0082" y="291252"/>
            <a:ext cx="4211638" cy="1239521"/>
          </a:xfrm>
        </p:spPr>
        <p:txBody>
          <a:bodyPr anchor="b"/>
          <a:lstStyle>
            <a:lvl1pPr algn="l">
              <a:defRPr sz="2500" b="1"/>
            </a:lvl1pPr>
          </a:lstStyle>
          <a:p>
            <a:r>
              <a:rPr lang="en-US"/>
              <a:t>Click to edit Master title style</a:t>
            </a:r>
          </a:p>
        </p:txBody>
      </p:sp>
      <p:sp>
        <p:nvSpPr>
          <p:cNvPr id="3" name="Content Placeholder 2"/>
          <p:cNvSpPr>
            <a:spLocks noGrp="1"/>
          </p:cNvSpPr>
          <p:nvPr>
            <p:ph idx="1"/>
          </p:nvPr>
        </p:nvSpPr>
        <p:spPr>
          <a:xfrm>
            <a:off x="5005070" y="291255"/>
            <a:ext cx="7156450" cy="6243321"/>
          </a:xfrm>
        </p:spPr>
        <p:txBody>
          <a:bodyPr/>
          <a:lstStyle>
            <a:lvl1pPr>
              <a:defRPr sz="3900"/>
            </a:lvl1pPr>
            <a:lvl2pPr>
              <a:defRPr sz="3500"/>
            </a:lvl2pPr>
            <a:lvl3pPr>
              <a:defRPr sz="3000"/>
            </a:lvl3pPr>
            <a:lvl4pPr>
              <a:defRPr sz="2500"/>
            </a:lvl4pPr>
            <a:lvl5pPr>
              <a:defRPr sz="2500"/>
            </a:lvl5pPr>
            <a:lvl6pPr>
              <a:defRPr sz="2500"/>
            </a:lvl6pPr>
            <a:lvl7pPr>
              <a:defRPr sz="2500"/>
            </a:lvl7pPr>
            <a:lvl8pPr>
              <a:defRPr sz="2500"/>
            </a:lvl8pPr>
            <a:lvl9pPr>
              <a:defRPr sz="2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40082" y="1530775"/>
            <a:ext cx="4211638" cy="5003802"/>
          </a:xfrm>
        </p:spPr>
        <p:txBody>
          <a:bodyPr/>
          <a:lstStyle>
            <a:lvl1pPr marL="0" indent="0">
              <a:buNone/>
              <a:defRPr sz="1800"/>
            </a:lvl1pPr>
            <a:lvl2pPr marL="574724" indent="0">
              <a:buNone/>
              <a:defRPr sz="1500"/>
            </a:lvl2pPr>
            <a:lvl3pPr marL="1149448" indent="0">
              <a:buNone/>
              <a:defRPr sz="1300"/>
            </a:lvl3pPr>
            <a:lvl4pPr marL="1724172" indent="0">
              <a:buNone/>
              <a:defRPr sz="1100"/>
            </a:lvl4pPr>
            <a:lvl5pPr marL="2298895" indent="0">
              <a:buNone/>
              <a:defRPr sz="1100"/>
            </a:lvl5pPr>
            <a:lvl6pPr marL="2873621" indent="0">
              <a:buNone/>
              <a:defRPr sz="1100"/>
            </a:lvl6pPr>
            <a:lvl7pPr marL="3448344" indent="0">
              <a:buNone/>
              <a:defRPr sz="1100"/>
            </a:lvl7pPr>
            <a:lvl8pPr marL="4023069" indent="0">
              <a:buNone/>
              <a:defRPr sz="1100"/>
            </a:lvl8pPr>
            <a:lvl9pPr marL="459779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E97BA02B-9B73-458F-B848-E99C8FA83242}" type="datetime1">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684943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09203" y="5120640"/>
            <a:ext cx="7680960" cy="604521"/>
          </a:xfrm>
        </p:spPr>
        <p:txBody>
          <a:bodyPr anchor="b"/>
          <a:lstStyle>
            <a:lvl1pPr algn="l">
              <a:defRPr sz="2500" b="1"/>
            </a:lvl1pPr>
          </a:lstStyle>
          <a:p>
            <a:r>
              <a:rPr lang="en-US"/>
              <a:t>Click to edit Master title style</a:t>
            </a:r>
          </a:p>
        </p:txBody>
      </p:sp>
      <p:sp>
        <p:nvSpPr>
          <p:cNvPr id="3" name="Picture Placeholder 2"/>
          <p:cNvSpPr>
            <a:spLocks noGrp="1"/>
          </p:cNvSpPr>
          <p:nvPr>
            <p:ph type="pic" idx="1"/>
          </p:nvPr>
        </p:nvSpPr>
        <p:spPr>
          <a:xfrm>
            <a:off x="2509203" y="653626"/>
            <a:ext cx="7680960" cy="4389120"/>
          </a:xfrm>
        </p:spPr>
        <p:txBody>
          <a:bodyPr/>
          <a:lstStyle>
            <a:lvl1pPr marL="0" indent="0">
              <a:buNone/>
              <a:defRPr sz="3900"/>
            </a:lvl1pPr>
            <a:lvl2pPr marL="574724" indent="0">
              <a:buNone/>
              <a:defRPr sz="3500"/>
            </a:lvl2pPr>
            <a:lvl3pPr marL="1149448" indent="0">
              <a:buNone/>
              <a:defRPr sz="3000"/>
            </a:lvl3pPr>
            <a:lvl4pPr marL="1724172" indent="0">
              <a:buNone/>
              <a:defRPr sz="2500"/>
            </a:lvl4pPr>
            <a:lvl5pPr marL="2298895" indent="0">
              <a:buNone/>
              <a:defRPr sz="2500"/>
            </a:lvl5pPr>
            <a:lvl6pPr marL="2873621" indent="0">
              <a:buNone/>
              <a:defRPr sz="2500"/>
            </a:lvl6pPr>
            <a:lvl7pPr marL="3448344" indent="0">
              <a:buNone/>
              <a:defRPr sz="2500"/>
            </a:lvl7pPr>
            <a:lvl8pPr marL="4023069" indent="0">
              <a:buNone/>
              <a:defRPr sz="2500"/>
            </a:lvl8pPr>
            <a:lvl9pPr marL="4597793" indent="0">
              <a:buNone/>
              <a:defRPr sz="2500"/>
            </a:lvl9pPr>
          </a:lstStyle>
          <a:p>
            <a:endParaRPr lang="en-US"/>
          </a:p>
        </p:txBody>
      </p:sp>
      <p:sp>
        <p:nvSpPr>
          <p:cNvPr id="4" name="Text Placeholder 3"/>
          <p:cNvSpPr>
            <a:spLocks noGrp="1"/>
          </p:cNvSpPr>
          <p:nvPr>
            <p:ph type="body" sz="half" idx="2"/>
          </p:nvPr>
        </p:nvSpPr>
        <p:spPr>
          <a:xfrm>
            <a:off x="2509203" y="5725161"/>
            <a:ext cx="7680960" cy="858519"/>
          </a:xfrm>
        </p:spPr>
        <p:txBody>
          <a:bodyPr/>
          <a:lstStyle>
            <a:lvl1pPr marL="0" indent="0">
              <a:buNone/>
              <a:defRPr sz="1800"/>
            </a:lvl1pPr>
            <a:lvl2pPr marL="574724" indent="0">
              <a:buNone/>
              <a:defRPr sz="1500"/>
            </a:lvl2pPr>
            <a:lvl3pPr marL="1149448" indent="0">
              <a:buNone/>
              <a:defRPr sz="1300"/>
            </a:lvl3pPr>
            <a:lvl4pPr marL="1724172" indent="0">
              <a:buNone/>
              <a:defRPr sz="1100"/>
            </a:lvl4pPr>
            <a:lvl5pPr marL="2298895" indent="0">
              <a:buNone/>
              <a:defRPr sz="1100"/>
            </a:lvl5pPr>
            <a:lvl6pPr marL="2873621" indent="0">
              <a:buNone/>
              <a:defRPr sz="1100"/>
            </a:lvl6pPr>
            <a:lvl7pPr marL="3448344" indent="0">
              <a:buNone/>
              <a:defRPr sz="1100"/>
            </a:lvl7pPr>
            <a:lvl8pPr marL="4023069" indent="0">
              <a:buNone/>
              <a:defRPr sz="1100"/>
            </a:lvl8pPr>
            <a:lvl9pPr marL="459779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33752997-1B9E-4EF2-B260-9EB38D81F553}" type="datetime1">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4131600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1370E5-7D69-44CE-AE73-71BFC3B68EE4}" type="datetime1">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6832098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81160" y="292948"/>
            <a:ext cx="2880360" cy="624162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40080" y="292948"/>
            <a:ext cx="8427720" cy="624162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CFF8B80-F83C-48AA-AA3F-63D37C1606D6}" type="datetime1">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011135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40080" y="292946"/>
            <a:ext cx="11521440" cy="1219200"/>
          </a:xfrm>
          <a:prstGeom prst="rect">
            <a:avLst/>
          </a:prstGeom>
        </p:spPr>
        <p:txBody>
          <a:bodyPr vert="horz" lIns="114945" tIns="57473" rIns="114945" bIns="57473" rtlCol="0" anchor="ctr">
            <a:normAutofit/>
          </a:bodyPr>
          <a:lstStyle/>
          <a:p>
            <a:r>
              <a:rPr lang="en-US"/>
              <a:t>Click to edit Master title style</a:t>
            </a:r>
          </a:p>
        </p:txBody>
      </p:sp>
      <p:sp>
        <p:nvSpPr>
          <p:cNvPr id="3" name="Text Placeholder 2"/>
          <p:cNvSpPr>
            <a:spLocks noGrp="1"/>
          </p:cNvSpPr>
          <p:nvPr>
            <p:ph type="body" idx="1"/>
          </p:nvPr>
        </p:nvSpPr>
        <p:spPr>
          <a:xfrm>
            <a:off x="640080" y="1706880"/>
            <a:ext cx="11521440" cy="4827694"/>
          </a:xfrm>
          <a:prstGeom prst="rect">
            <a:avLst/>
          </a:prstGeom>
        </p:spPr>
        <p:txBody>
          <a:bodyPr vert="horz" lIns="114945" tIns="57473" rIns="114945" bIns="5747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40080" y="6780107"/>
            <a:ext cx="2987040" cy="389467"/>
          </a:xfrm>
          <a:prstGeom prst="rect">
            <a:avLst/>
          </a:prstGeom>
        </p:spPr>
        <p:txBody>
          <a:bodyPr vert="horz" lIns="114945" tIns="57473" rIns="114945" bIns="57473" rtlCol="0" anchor="ctr"/>
          <a:lstStyle>
            <a:lvl1pPr algn="l">
              <a:defRPr sz="1500">
                <a:solidFill>
                  <a:schemeClr val="tx1">
                    <a:tint val="75000"/>
                  </a:schemeClr>
                </a:solidFill>
              </a:defRPr>
            </a:lvl1pPr>
          </a:lstStyle>
          <a:p>
            <a:fld id="{0E5C8E2D-1657-4F9E-9BA7-8881C66FCBC2}" type="datetime1">
              <a:rPr lang="en-US" smtClean="0"/>
              <a:t>2/24/2026</a:t>
            </a:fld>
            <a:endParaRPr lang="en-US"/>
          </a:p>
        </p:txBody>
      </p:sp>
      <p:sp>
        <p:nvSpPr>
          <p:cNvPr id="5" name="Footer Placeholder 4"/>
          <p:cNvSpPr>
            <a:spLocks noGrp="1"/>
          </p:cNvSpPr>
          <p:nvPr>
            <p:ph type="ftr" sz="quarter" idx="3"/>
          </p:nvPr>
        </p:nvSpPr>
        <p:spPr>
          <a:xfrm>
            <a:off x="4373880" y="6780107"/>
            <a:ext cx="4053840" cy="389467"/>
          </a:xfrm>
          <a:prstGeom prst="rect">
            <a:avLst/>
          </a:prstGeom>
        </p:spPr>
        <p:txBody>
          <a:bodyPr vert="horz" lIns="114945" tIns="57473" rIns="114945" bIns="57473" rtlCol="0" anchor="ctr"/>
          <a:lstStyle>
            <a:lvl1pPr algn="ctr">
              <a:defRPr sz="15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174480" y="6780107"/>
            <a:ext cx="2987040" cy="389467"/>
          </a:xfrm>
          <a:prstGeom prst="rect">
            <a:avLst/>
          </a:prstGeom>
        </p:spPr>
        <p:txBody>
          <a:bodyPr vert="horz" lIns="114945" tIns="57473" rIns="114945" bIns="57473" rtlCol="0" anchor="ctr"/>
          <a:lstStyle>
            <a:lvl1pPr algn="r">
              <a:defRPr sz="1500">
                <a:solidFill>
                  <a:schemeClr val="tx1">
                    <a:tint val="75000"/>
                  </a:schemeClr>
                </a:solidFill>
              </a:defRPr>
            </a:lvl1pPr>
          </a:lstStyle>
          <a:p>
            <a:fld id="{C02A2637-A5A3-49FA-B214-6E67543099EF}" type="slidenum">
              <a:rPr lang="en-US" smtClean="0"/>
              <a:t>‹#›</a:t>
            </a:fld>
            <a:endParaRPr lang="en-US"/>
          </a:p>
        </p:txBody>
      </p:sp>
    </p:spTree>
    <p:extLst>
      <p:ext uri="{BB962C8B-B14F-4D97-AF65-F5344CB8AC3E}">
        <p14:creationId xmlns:p14="http://schemas.microsoft.com/office/powerpoint/2010/main" val="6410387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1149448" rtl="0" eaLnBrk="1" latinLnBrk="0" hangingPunct="1">
        <a:spcBef>
          <a:spcPct val="0"/>
        </a:spcBef>
        <a:buNone/>
        <a:defRPr sz="5500" kern="1200">
          <a:solidFill>
            <a:schemeClr val="tx1"/>
          </a:solidFill>
          <a:latin typeface="+mj-lt"/>
          <a:ea typeface="+mj-ea"/>
          <a:cs typeface="+mj-cs"/>
        </a:defRPr>
      </a:lvl1pPr>
    </p:titleStyle>
    <p:bodyStyle>
      <a:lvl1pPr marL="431044" indent="-431044" algn="l" defTabSz="1149448" rtl="0" eaLnBrk="1" latinLnBrk="0" hangingPunct="1">
        <a:spcBef>
          <a:spcPct val="20000"/>
        </a:spcBef>
        <a:buFont typeface="Arial" pitchFamily="34" charset="0"/>
        <a:buChar char="•"/>
        <a:defRPr sz="3900" kern="1200">
          <a:solidFill>
            <a:schemeClr val="tx1"/>
          </a:solidFill>
          <a:latin typeface="+mn-lt"/>
          <a:ea typeface="+mn-ea"/>
          <a:cs typeface="+mn-cs"/>
        </a:defRPr>
      </a:lvl1pPr>
      <a:lvl2pPr marL="933926" indent="-359202" algn="l" defTabSz="1149448" rtl="0" eaLnBrk="1" latinLnBrk="0" hangingPunct="1">
        <a:spcBef>
          <a:spcPct val="20000"/>
        </a:spcBef>
        <a:buFont typeface="Arial" pitchFamily="34" charset="0"/>
        <a:buChar char="–"/>
        <a:defRPr sz="3500" kern="1200">
          <a:solidFill>
            <a:schemeClr val="tx1"/>
          </a:solidFill>
          <a:latin typeface="+mn-lt"/>
          <a:ea typeface="+mn-ea"/>
          <a:cs typeface="+mn-cs"/>
        </a:defRPr>
      </a:lvl2pPr>
      <a:lvl3pPr marL="1436810" indent="-287362" algn="l" defTabSz="1149448" rtl="0" eaLnBrk="1" latinLnBrk="0" hangingPunct="1">
        <a:spcBef>
          <a:spcPct val="20000"/>
        </a:spcBef>
        <a:buFont typeface="Arial" pitchFamily="34" charset="0"/>
        <a:buChar char="•"/>
        <a:defRPr sz="3000" kern="1200">
          <a:solidFill>
            <a:schemeClr val="tx1"/>
          </a:solidFill>
          <a:latin typeface="+mn-lt"/>
          <a:ea typeface="+mn-ea"/>
          <a:cs typeface="+mn-cs"/>
        </a:defRPr>
      </a:lvl3pPr>
      <a:lvl4pPr marL="2011534"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4pPr>
      <a:lvl5pPr marL="2586258"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5pPr>
      <a:lvl6pPr marL="3160983"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6pPr>
      <a:lvl7pPr marL="3735707"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7pPr>
      <a:lvl8pPr marL="4310430"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8pPr>
      <a:lvl9pPr marL="4885155"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9pPr>
    </p:bodyStyle>
    <p:otherStyle>
      <a:defPPr>
        <a:defRPr lang="en-US"/>
      </a:defPPr>
      <a:lvl1pPr marL="0" algn="l" defTabSz="1149448" rtl="0" eaLnBrk="1" latinLnBrk="0" hangingPunct="1">
        <a:defRPr sz="2300" kern="1200">
          <a:solidFill>
            <a:schemeClr val="tx1"/>
          </a:solidFill>
          <a:latin typeface="+mn-lt"/>
          <a:ea typeface="+mn-ea"/>
          <a:cs typeface="+mn-cs"/>
        </a:defRPr>
      </a:lvl1pPr>
      <a:lvl2pPr marL="574724" algn="l" defTabSz="1149448" rtl="0" eaLnBrk="1" latinLnBrk="0" hangingPunct="1">
        <a:defRPr sz="2300" kern="1200">
          <a:solidFill>
            <a:schemeClr val="tx1"/>
          </a:solidFill>
          <a:latin typeface="+mn-lt"/>
          <a:ea typeface="+mn-ea"/>
          <a:cs typeface="+mn-cs"/>
        </a:defRPr>
      </a:lvl2pPr>
      <a:lvl3pPr marL="1149448" algn="l" defTabSz="1149448" rtl="0" eaLnBrk="1" latinLnBrk="0" hangingPunct="1">
        <a:defRPr sz="2300" kern="1200">
          <a:solidFill>
            <a:schemeClr val="tx1"/>
          </a:solidFill>
          <a:latin typeface="+mn-lt"/>
          <a:ea typeface="+mn-ea"/>
          <a:cs typeface="+mn-cs"/>
        </a:defRPr>
      </a:lvl3pPr>
      <a:lvl4pPr marL="1724172" algn="l" defTabSz="1149448" rtl="0" eaLnBrk="1" latinLnBrk="0" hangingPunct="1">
        <a:defRPr sz="2300" kern="1200">
          <a:solidFill>
            <a:schemeClr val="tx1"/>
          </a:solidFill>
          <a:latin typeface="+mn-lt"/>
          <a:ea typeface="+mn-ea"/>
          <a:cs typeface="+mn-cs"/>
        </a:defRPr>
      </a:lvl4pPr>
      <a:lvl5pPr marL="2298895" algn="l" defTabSz="1149448" rtl="0" eaLnBrk="1" latinLnBrk="0" hangingPunct="1">
        <a:defRPr sz="2300" kern="1200">
          <a:solidFill>
            <a:schemeClr val="tx1"/>
          </a:solidFill>
          <a:latin typeface="+mn-lt"/>
          <a:ea typeface="+mn-ea"/>
          <a:cs typeface="+mn-cs"/>
        </a:defRPr>
      </a:lvl5pPr>
      <a:lvl6pPr marL="2873621" algn="l" defTabSz="1149448" rtl="0" eaLnBrk="1" latinLnBrk="0" hangingPunct="1">
        <a:defRPr sz="2300" kern="1200">
          <a:solidFill>
            <a:schemeClr val="tx1"/>
          </a:solidFill>
          <a:latin typeface="+mn-lt"/>
          <a:ea typeface="+mn-ea"/>
          <a:cs typeface="+mn-cs"/>
        </a:defRPr>
      </a:lvl6pPr>
      <a:lvl7pPr marL="3448344" algn="l" defTabSz="1149448" rtl="0" eaLnBrk="1" latinLnBrk="0" hangingPunct="1">
        <a:defRPr sz="2300" kern="1200">
          <a:solidFill>
            <a:schemeClr val="tx1"/>
          </a:solidFill>
          <a:latin typeface="+mn-lt"/>
          <a:ea typeface="+mn-ea"/>
          <a:cs typeface="+mn-cs"/>
        </a:defRPr>
      </a:lvl7pPr>
      <a:lvl8pPr marL="4023069" algn="l" defTabSz="1149448" rtl="0" eaLnBrk="1" latinLnBrk="0" hangingPunct="1">
        <a:defRPr sz="2300" kern="1200">
          <a:solidFill>
            <a:schemeClr val="tx1"/>
          </a:solidFill>
          <a:latin typeface="+mn-lt"/>
          <a:ea typeface="+mn-ea"/>
          <a:cs typeface="+mn-cs"/>
        </a:defRPr>
      </a:lvl8pPr>
      <a:lvl9pPr marL="4597793" algn="l" defTabSz="1149448" rtl="0" eaLnBrk="1" latinLnBrk="0" hangingPunct="1">
        <a:defRPr sz="2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patents.google.com/patent/US20240202351A1" TargetMode="External"/><Relationship Id="rId2" Type="http://schemas.openxmlformats.org/officeDocument/2006/relationships/hyperlink" Target="https://patents.google.com/patent/US12169766B2"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12801600" cy="1893147"/>
          </a:xfrm>
          <a:solidFill>
            <a:schemeClr val="tx2">
              <a:lumMod val="60000"/>
              <a:lumOff val="40000"/>
            </a:schemeClr>
          </a:solidFill>
        </p:spPr>
        <p:txBody>
          <a:bodyPr>
            <a:noAutofit/>
          </a:bodyPr>
          <a:lstStyle/>
          <a:p>
            <a:r>
              <a:rPr lang="en-IN" sz="3900" b="1" dirty="0">
                <a:solidFill>
                  <a:schemeClr val="bg1"/>
                </a:solidFill>
                <a:latin typeface="Times New Roman" panose="02020603050405020304" pitchFamily="18" charset="0"/>
                <a:cs typeface="Times New Roman" panose="02020603050405020304" pitchFamily="18" charset="0"/>
              </a:rPr>
              <a:t>Auditing Algorithmic Fairness in Judicial AI: Empirical Evidence and a Framework for Indian Courts</a:t>
            </a:r>
            <a:endParaRPr lang="en-US" sz="39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981200" y="3156956"/>
            <a:ext cx="9296400" cy="4082043"/>
          </a:xfrm>
        </p:spPr>
        <p:txBody>
          <a:bodyPr>
            <a:normAutofit fontScale="55000" lnSpcReduction="20000"/>
          </a:bodyPr>
          <a:lstStyle/>
          <a:p>
            <a:r>
              <a:rPr lang="en-US" sz="4400" dirty="0">
                <a:solidFill>
                  <a:schemeClr val="accent1">
                    <a:lumMod val="50000"/>
                  </a:schemeClr>
                </a:solidFill>
                <a:latin typeface="Times New Roman" pitchFamily="18" charset="0"/>
                <a:cs typeface="Times New Roman" pitchFamily="18" charset="0"/>
              </a:rPr>
              <a:t>M. Sc Project Work Review-1</a:t>
            </a:r>
          </a:p>
          <a:p>
            <a:r>
              <a:rPr lang="en-US" sz="4400" dirty="0">
                <a:solidFill>
                  <a:schemeClr val="accent1">
                    <a:lumMod val="50000"/>
                  </a:schemeClr>
                </a:solidFill>
                <a:latin typeface="Times New Roman" pitchFamily="18" charset="0"/>
                <a:cs typeface="Times New Roman" pitchFamily="18" charset="0"/>
              </a:rPr>
              <a:t>Presented by</a:t>
            </a:r>
          </a:p>
          <a:p>
            <a:r>
              <a:rPr lang="en-US" sz="4400" dirty="0">
                <a:solidFill>
                  <a:schemeClr val="accent1">
                    <a:lumMod val="50000"/>
                  </a:schemeClr>
                </a:solidFill>
                <a:latin typeface="Times New Roman" pitchFamily="18" charset="0"/>
                <a:cs typeface="Times New Roman" pitchFamily="18" charset="0"/>
              </a:rPr>
              <a:t>Mithuna Malini and Nitesh Pradhan</a:t>
            </a:r>
          </a:p>
          <a:p>
            <a:r>
              <a:rPr lang="en-US" sz="4400" dirty="0">
                <a:solidFill>
                  <a:schemeClr val="accent1">
                    <a:lumMod val="50000"/>
                  </a:schemeClr>
                </a:solidFill>
                <a:latin typeface="Times New Roman" pitchFamily="18" charset="0"/>
                <a:cs typeface="Times New Roman" pitchFamily="18" charset="0"/>
              </a:rPr>
              <a:t>25MDT1036 and 25MDT1052</a:t>
            </a:r>
          </a:p>
          <a:p>
            <a:r>
              <a:rPr lang="en-US" sz="4400" dirty="0">
                <a:solidFill>
                  <a:schemeClr val="accent1">
                    <a:lumMod val="50000"/>
                  </a:schemeClr>
                </a:solidFill>
                <a:latin typeface="Times New Roman" pitchFamily="18" charset="0"/>
                <a:cs typeface="Times New Roman" pitchFamily="18" charset="0"/>
              </a:rPr>
              <a:t>M. Sc Data Science</a:t>
            </a:r>
          </a:p>
          <a:p>
            <a:endParaRPr lang="en-US" sz="4400" dirty="0">
              <a:solidFill>
                <a:schemeClr val="accent1">
                  <a:lumMod val="50000"/>
                </a:schemeClr>
              </a:solidFill>
              <a:latin typeface="Times New Roman" pitchFamily="18" charset="0"/>
              <a:cs typeface="Times New Roman" pitchFamily="18" charset="0"/>
            </a:endParaRPr>
          </a:p>
          <a:p>
            <a:r>
              <a:rPr lang="en-US" sz="4400" dirty="0">
                <a:solidFill>
                  <a:schemeClr val="accent1">
                    <a:lumMod val="50000"/>
                  </a:schemeClr>
                </a:solidFill>
                <a:latin typeface="Times New Roman" pitchFamily="18" charset="0"/>
                <a:cs typeface="Times New Roman" pitchFamily="18" charset="0"/>
              </a:rPr>
              <a:t>Under the Guidance of</a:t>
            </a:r>
          </a:p>
          <a:p>
            <a:r>
              <a:rPr lang="en-US" sz="4400" dirty="0">
                <a:solidFill>
                  <a:schemeClr val="accent1">
                    <a:lumMod val="50000"/>
                  </a:schemeClr>
                </a:solidFill>
                <a:latin typeface="Times New Roman" pitchFamily="18" charset="0"/>
                <a:cs typeface="Times New Roman" pitchFamily="18" charset="0"/>
              </a:rPr>
              <a:t>Prof. Dr. Kriti Arya</a:t>
            </a:r>
          </a:p>
          <a:p>
            <a:r>
              <a:rPr lang="en-US" sz="4400" dirty="0">
                <a:solidFill>
                  <a:schemeClr val="accent1">
                    <a:lumMod val="50000"/>
                  </a:schemeClr>
                </a:solidFill>
                <a:latin typeface="Times New Roman" pitchFamily="18" charset="0"/>
                <a:cs typeface="Times New Roman" pitchFamily="18" charset="0"/>
              </a:rPr>
              <a:t>School of Advanced Sciences</a:t>
            </a:r>
          </a:p>
          <a:p>
            <a:r>
              <a:rPr lang="en-US" sz="4400" dirty="0">
                <a:solidFill>
                  <a:schemeClr val="accent1">
                    <a:lumMod val="50000"/>
                  </a:schemeClr>
                </a:solidFill>
                <a:latin typeface="Times New Roman" pitchFamily="18" charset="0"/>
                <a:cs typeface="Times New Roman" pitchFamily="18" charset="0"/>
              </a:rPr>
              <a:t>Vellore Institute of Technology, Chennai</a:t>
            </a:r>
            <a:r>
              <a:rPr lang="en-US" dirty="0"/>
              <a:t>.</a:t>
            </a:r>
          </a:p>
          <a:p>
            <a:endParaRPr lang="en-US" dirty="0"/>
          </a:p>
        </p:txBody>
      </p:sp>
      <p:pic>
        <p:nvPicPr>
          <p:cNvPr id="4" name="image2.png">
            <a:extLst>
              <a:ext uri="{FF2B5EF4-FFF2-40B4-BE49-F238E27FC236}">
                <a16:creationId xmlns:a16="http://schemas.microsoft.com/office/drawing/2014/main" id="{22B46767-127D-ED42-E12D-499907980F7E}"/>
              </a:ext>
            </a:extLst>
          </p:cNvPr>
          <p:cNvPicPr/>
          <p:nvPr/>
        </p:nvPicPr>
        <p:blipFill>
          <a:blip r:embed="rId2"/>
          <a:srcRect/>
          <a:stretch>
            <a:fillRect/>
          </a:stretch>
        </p:blipFill>
        <p:spPr>
          <a:xfrm>
            <a:off x="4504055" y="2056740"/>
            <a:ext cx="3793490" cy="936625"/>
          </a:xfrm>
          <a:prstGeom prst="rect">
            <a:avLst/>
          </a:prstGeom>
          <a:ln/>
        </p:spPr>
      </p:pic>
    </p:spTree>
    <p:extLst>
      <p:ext uri="{BB962C8B-B14F-4D97-AF65-F5344CB8AC3E}">
        <p14:creationId xmlns:p14="http://schemas.microsoft.com/office/powerpoint/2010/main" val="4998431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02A2637-A5A3-49FA-B214-6E67543099EF}" type="slidenum">
              <a:rPr lang="en-US" smtClean="0"/>
              <a:t>2</a:t>
            </a:fld>
            <a:endParaRPr lang="en-US" dirty="0"/>
          </a:p>
        </p:txBody>
      </p:sp>
      <p:sp>
        <p:nvSpPr>
          <p:cNvPr id="14" name="Title 1"/>
          <p:cNvSpPr>
            <a:spLocks noGrp="1"/>
          </p:cNvSpPr>
          <p:nvPr>
            <p:ph type="title"/>
          </p:nvPr>
        </p:nvSpPr>
        <p:spPr>
          <a:solidFill>
            <a:schemeClr val="tx2">
              <a:lumMod val="60000"/>
              <a:lumOff val="40000"/>
            </a:schemeClr>
          </a:solidFill>
        </p:spPr>
        <p:txBody>
          <a:bodyPr/>
          <a:lstStyle/>
          <a:p>
            <a:r>
              <a:rPr lang="en-US" sz="3700" b="1" dirty="0">
                <a:solidFill>
                  <a:schemeClr val="bg1"/>
                </a:solidFill>
                <a:latin typeface="Times New Roman" pitchFamily="18" charset="0"/>
                <a:cs typeface="Times New Roman" pitchFamily="18" charset="0"/>
              </a:rPr>
              <a:t>CONTENTS</a:t>
            </a:r>
          </a:p>
        </p:txBody>
      </p:sp>
      <p:sp>
        <p:nvSpPr>
          <p:cNvPr id="5" name="Content Placeholder 2"/>
          <p:cNvSpPr txBox="1">
            <a:spLocks/>
          </p:cNvSpPr>
          <p:nvPr/>
        </p:nvSpPr>
        <p:spPr>
          <a:xfrm>
            <a:off x="640080" y="2362200"/>
            <a:ext cx="11521440" cy="4172374"/>
          </a:xfrm>
          <a:prstGeom prst="rect">
            <a:avLst/>
          </a:prstGeom>
        </p:spPr>
        <p:txBody>
          <a:bodyPr vert="horz" lIns="114945" tIns="57473" rIns="114945" bIns="57473" rtlCol="0">
            <a:normAutofit/>
          </a:bodyPr>
          <a:lstStyle>
            <a:lvl1pPr marL="431044" indent="-431044" algn="l" defTabSz="1149448" rtl="0" eaLnBrk="1" latinLnBrk="0" hangingPunct="1">
              <a:spcBef>
                <a:spcPct val="20000"/>
              </a:spcBef>
              <a:buFont typeface="Arial" pitchFamily="34" charset="0"/>
              <a:buChar char="•"/>
              <a:defRPr sz="3900" kern="1200">
                <a:solidFill>
                  <a:schemeClr val="tx1"/>
                </a:solidFill>
                <a:latin typeface="+mn-lt"/>
                <a:ea typeface="+mn-ea"/>
                <a:cs typeface="+mn-cs"/>
              </a:defRPr>
            </a:lvl1pPr>
            <a:lvl2pPr marL="933926" indent="-359202" algn="l" defTabSz="1149448" rtl="0" eaLnBrk="1" latinLnBrk="0" hangingPunct="1">
              <a:spcBef>
                <a:spcPct val="20000"/>
              </a:spcBef>
              <a:buFont typeface="Arial" pitchFamily="34" charset="0"/>
              <a:buChar char="–"/>
              <a:defRPr sz="3500" kern="1200">
                <a:solidFill>
                  <a:schemeClr val="tx1"/>
                </a:solidFill>
                <a:latin typeface="+mn-lt"/>
                <a:ea typeface="+mn-ea"/>
                <a:cs typeface="+mn-cs"/>
              </a:defRPr>
            </a:lvl2pPr>
            <a:lvl3pPr marL="1436810" indent="-287362" algn="l" defTabSz="1149448" rtl="0" eaLnBrk="1" latinLnBrk="0" hangingPunct="1">
              <a:spcBef>
                <a:spcPct val="20000"/>
              </a:spcBef>
              <a:buFont typeface="Arial" pitchFamily="34" charset="0"/>
              <a:buChar char="•"/>
              <a:defRPr sz="3000" kern="1200">
                <a:solidFill>
                  <a:schemeClr val="tx1"/>
                </a:solidFill>
                <a:latin typeface="+mn-lt"/>
                <a:ea typeface="+mn-ea"/>
                <a:cs typeface="+mn-cs"/>
              </a:defRPr>
            </a:lvl3pPr>
            <a:lvl4pPr marL="2011534"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4pPr>
            <a:lvl5pPr marL="2586258"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5pPr>
            <a:lvl6pPr marL="3160983"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6pPr>
            <a:lvl7pPr marL="3735707"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7pPr>
            <a:lvl8pPr marL="4310430"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8pPr>
            <a:lvl9pPr marL="4885155"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9pPr>
          </a:lstStyle>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INTRODUCTION</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LITERATURE SURVEY</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RESEARCH GAPS</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DATA PIPELINE FOR JUDICIAL DATASET</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PROPOSED EXPERIMENTAL DESIGN FOR TEMPORAL FAIRNESS AUDIT</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2490154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lumMod val="60000"/>
              <a:lumOff val="40000"/>
            </a:schemeClr>
          </a:solidFill>
        </p:spPr>
        <p:txBody>
          <a:bodyPr>
            <a:normAutofit/>
          </a:bodyPr>
          <a:lstStyle/>
          <a:p>
            <a:r>
              <a:rPr lang="en-US" sz="3900" b="1" dirty="0">
                <a:solidFill>
                  <a:schemeClr val="bg1"/>
                </a:solidFill>
                <a:latin typeface="Times New Roman" pitchFamily="18" charset="0"/>
                <a:cs typeface="Times New Roman" pitchFamily="18" charset="0"/>
              </a:rPr>
              <a:t>1. INTRODUCTION</a:t>
            </a:r>
          </a:p>
        </p:txBody>
      </p:sp>
      <p:sp>
        <p:nvSpPr>
          <p:cNvPr id="3" name="Content Placeholder 2"/>
          <p:cNvSpPr>
            <a:spLocks noGrp="1"/>
          </p:cNvSpPr>
          <p:nvPr>
            <p:ph idx="1"/>
          </p:nvPr>
        </p:nvSpPr>
        <p:spPr>
          <a:xfrm>
            <a:off x="640080" y="2514600"/>
            <a:ext cx="11521440" cy="4019974"/>
          </a:xfrm>
        </p:spPr>
        <p:txBody>
          <a:bodyPr>
            <a:noAutofit/>
          </a:bodyPr>
          <a:lstStyle/>
          <a:p>
            <a:pPr marL="0" indent="0" algn="just">
              <a:buNone/>
            </a:pPr>
            <a:r>
              <a:rPr lang="en-US" sz="2400" dirty="0">
                <a:latin typeface="Times New Roman" panose="02020603050405020304" pitchFamily="18" charset="0"/>
                <a:cs typeface="Times New Roman" panose="02020603050405020304" pitchFamily="18" charset="0"/>
              </a:rPr>
              <a:t>The use of Machine Learning in judicial decision-support systems has increased with advances in NLP and digitized court records. However, deploying AI in high-stakes judicial settings raises serious concerns about fairness and accountability. Most existing fairness studies rely on demographic attributes, which are often unavailable or ethically sensitive in the Indian judicial context. This project instead focuses on </a:t>
            </a:r>
            <a:r>
              <a:rPr lang="en-US" sz="2400" b="1" dirty="0">
                <a:latin typeface="Times New Roman" panose="02020603050405020304" pitchFamily="18" charset="0"/>
                <a:cs typeface="Times New Roman" panose="02020603050405020304" pitchFamily="18" charset="0"/>
              </a:rPr>
              <a:t>temporal fairness</a:t>
            </a:r>
            <a:r>
              <a:rPr lang="en-US" sz="2400" dirty="0">
                <a:latin typeface="Times New Roman" panose="02020603050405020304" pitchFamily="18" charset="0"/>
                <a:cs typeface="Times New Roman" panose="02020603050405020304" pitchFamily="18" charset="0"/>
              </a:rPr>
              <a:t>, examining whether models trained on historical judgments remain consistent over time. The study conducts a systematic fairness audit of judicial outcome prediction models using Indian court data to promote responsible and unbiased AI adoption.</a:t>
            </a:r>
          </a:p>
        </p:txBody>
      </p:sp>
      <p:sp>
        <p:nvSpPr>
          <p:cNvPr id="4" name="Slide Number Placeholder 3"/>
          <p:cNvSpPr>
            <a:spLocks noGrp="1"/>
          </p:cNvSpPr>
          <p:nvPr>
            <p:ph type="sldNum" sz="quarter" idx="12"/>
          </p:nvPr>
        </p:nvSpPr>
        <p:spPr/>
        <p:txBody>
          <a:bodyPr/>
          <a:lstStyle/>
          <a:p>
            <a:fld id="{C02A2637-A5A3-49FA-B214-6E67543099EF}" type="slidenum">
              <a:rPr lang="en-US" smtClean="0"/>
              <a:t>3</a:t>
            </a:fld>
            <a:endParaRPr lang="en-US"/>
          </a:p>
        </p:txBody>
      </p:sp>
    </p:spTree>
    <p:extLst>
      <p:ext uri="{BB962C8B-B14F-4D97-AF65-F5344CB8AC3E}">
        <p14:creationId xmlns:p14="http://schemas.microsoft.com/office/powerpoint/2010/main" val="29739748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03107"/>
            <a:ext cx="11704320" cy="1219200"/>
          </a:xfrm>
          <a:solidFill>
            <a:schemeClr val="tx2">
              <a:lumMod val="60000"/>
              <a:lumOff val="40000"/>
            </a:schemeClr>
          </a:solidFill>
        </p:spPr>
        <p:txBody>
          <a:bodyPr>
            <a:normAutofit/>
          </a:bodyPr>
          <a:lstStyle/>
          <a:p>
            <a:r>
              <a:rPr lang="en-US" sz="3700" b="1" dirty="0">
                <a:solidFill>
                  <a:schemeClr val="bg1"/>
                </a:solidFill>
                <a:latin typeface="Times New Roman" pitchFamily="18" charset="0"/>
                <a:cs typeface="Times New Roman" pitchFamily="18" charset="0"/>
              </a:rPr>
              <a:t>2.LITERATURE SURVEY</a:t>
            </a:r>
          </a:p>
        </p:txBody>
      </p:sp>
      <p:graphicFrame>
        <p:nvGraphicFramePr>
          <p:cNvPr id="5" name="Content Placeholder 5"/>
          <p:cNvGraphicFramePr>
            <a:graphicFrameLocks/>
          </p:cNvGraphicFramePr>
          <p:nvPr>
            <p:extLst>
              <p:ext uri="{D42A27DB-BD31-4B8C-83A1-F6EECF244321}">
                <p14:modId xmlns:p14="http://schemas.microsoft.com/office/powerpoint/2010/main" val="2238149087"/>
              </p:ext>
            </p:extLst>
          </p:nvPr>
        </p:nvGraphicFramePr>
        <p:xfrm>
          <a:off x="675939" y="1509763"/>
          <a:ext cx="11704321" cy="5817300"/>
        </p:xfrm>
        <a:graphic>
          <a:graphicData uri="http://schemas.openxmlformats.org/drawingml/2006/table">
            <a:tbl>
              <a:tblPr firstRow="1" firstCol="1" bandRow="1">
                <a:tableStyleId>{BC89EF96-8CEA-46FF-86C4-4CE0E7609802}</a:tableStyleId>
              </a:tblPr>
              <a:tblGrid>
                <a:gridCol w="704928">
                  <a:extLst>
                    <a:ext uri="{9D8B030D-6E8A-4147-A177-3AD203B41FA5}">
                      <a16:colId xmlns:a16="http://schemas.microsoft.com/office/drawing/2014/main" val="20000"/>
                    </a:ext>
                  </a:extLst>
                </a:gridCol>
                <a:gridCol w="2886333">
                  <a:extLst>
                    <a:ext uri="{9D8B030D-6E8A-4147-A177-3AD203B41FA5}">
                      <a16:colId xmlns:a16="http://schemas.microsoft.com/office/drawing/2014/main" val="20001"/>
                    </a:ext>
                  </a:extLst>
                </a:gridCol>
                <a:gridCol w="2597037">
                  <a:extLst>
                    <a:ext uri="{9D8B030D-6E8A-4147-A177-3AD203B41FA5}">
                      <a16:colId xmlns:a16="http://schemas.microsoft.com/office/drawing/2014/main" val="20002"/>
                    </a:ext>
                  </a:extLst>
                </a:gridCol>
                <a:gridCol w="2925223">
                  <a:extLst>
                    <a:ext uri="{9D8B030D-6E8A-4147-A177-3AD203B41FA5}">
                      <a16:colId xmlns:a16="http://schemas.microsoft.com/office/drawing/2014/main" val="1023101934"/>
                    </a:ext>
                  </a:extLst>
                </a:gridCol>
                <a:gridCol w="2590800">
                  <a:extLst>
                    <a:ext uri="{9D8B030D-6E8A-4147-A177-3AD203B41FA5}">
                      <a16:colId xmlns:a16="http://schemas.microsoft.com/office/drawing/2014/main" val="548304626"/>
                    </a:ext>
                  </a:extLst>
                </a:gridCol>
              </a:tblGrid>
              <a:tr h="543859">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S.No</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Article  Title </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Techniques Used</a:t>
                      </a: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Key Findings</a:t>
                      </a: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Limitations</a:t>
                      </a:r>
                    </a:p>
                  </a:txBody>
                  <a:tcPr marL="67838" marR="67838" marT="0" marB="0"/>
                </a:tc>
                <a:extLst>
                  <a:ext uri="{0D108BD9-81ED-4DB2-BD59-A6C34878D82A}">
                    <a16:rowId xmlns:a16="http://schemas.microsoft.com/office/drawing/2014/main" val="10000"/>
                  </a:ext>
                </a:extLst>
              </a:tr>
              <a:tr h="1375378">
                <a:tc>
                  <a:txBody>
                    <a:bodyPr/>
                    <a:lstStyle/>
                    <a:p>
                      <a:pPr marL="0" marR="0" algn="ctr">
                        <a:lnSpc>
                          <a:spcPct val="115000"/>
                        </a:lnSpc>
                        <a:spcBef>
                          <a:spcPts val="0"/>
                        </a:spcBef>
                        <a:spcAft>
                          <a:spcPts val="0"/>
                        </a:spcAft>
                      </a:pPr>
                      <a:r>
                        <a:rPr lang="en-US" sz="1600" dirty="0">
                          <a:effectLst/>
                          <a:latin typeface="Times New Roman" pitchFamily="18" charset="0"/>
                          <a:cs typeface="Times New Roman" pitchFamily="18" charset="0"/>
                        </a:rPr>
                        <a:t>1</a:t>
                      </a: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algn="just">
                        <a:buNone/>
                      </a:pPr>
                      <a:r>
                        <a:rPr lang="en-US" sz="1800" i="1" dirty="0"/>
                        <a:t>The Promise of Machine Learning for the Courts of India</a:t>
                      </a:r>
                      <a:r>
                        <a:rPr lang="en-US" sz="1800" dirty="0"/>
                        <a:t> – </a:t>
                      </a:r>
                      <a:r>
                        <a:rPr lang="en-US" sz="1800" dirty="0" err="1"/>
                        <a:t>Bhupatiraju</a:t>
                      </a:r>
                      <a:r>
                        <a:rPr lang="en-US" sz="1800" dirty="0"/>
                        <a:t> et al. </a:t>
                      </a:r>
                      <a:r>
                        <a:rPr lang="en-US" sz="1800" i="0" dirty="0"/>
                        <a:t>(2019)</a:t>
                      </a:r>
                    </a:p>
                  </a:txBody>
                  <a:tcPr anchor="ctr">
                    <a:solidFill>
                      <a:srgbClr val="C4E1F2"/>
                    </a:solidFill>
                  </a:tcPr>
                </a:tc>
                <a:tc>
                  <a:txBody>
                    <a:bodyPr/>
                    <a:lstStyle/>
                    <a:p>
                      <a:pPr marL="0" marR="0" algn="just">
                        <a:lnSpc>
                          <a:spcPct val="115000"/>
                        </a:lnSpc>
                        <a:spcBef>
                          <a:spcPts val="0"/>
                        </a:spcBef>
                        <a:spcAft>
                          <a:spcPts val="0"/>
                        </a:spcAft>
                      </a:pPr>
                      <a:r>
                        <a:rPr lang="en-US" sz="1800" dirty="0"/>
                        <a:t>Conceptual analysis of ML-based judicial data analytics</a:t>
                      </a:r>
                      <a:endParaRPr lang="en-US" sz="18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r>
                        <a:rPr lang="en-US" sz="1800" dirty="0"/>
                        <a:t>ML aids judges in bias detection and decision support without replacing them.</a:t>
                      </a:r>
                      <a:endParaRPr lang="en-US" sz="18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r>
                        <a:rPr lang="en-US" sz="1800" dirty="0"/>
                        <a:t>Focuses on conceptual analysis; no implementation-level study</a:t>
                      </a:r>
                      <a:endParaRPr lang="en-US" sz="1800" dirty="0">
                        <a:effectLst/>
                        <a:latin typeface="Times New Roman" pitchFamily="18" charset="0"/>
                        <a:ea typeface="Calibri"/>
                        <a:cs typeface="Times New Roman" pitchFamily="18" charset="0"/>
                      </a:endParaRPr>
                    </a:p>
                  </a:txBody>
                  <a:tcPr marL="67838" marR="67838" marT="0" marB="0">
                    <a:solidFill>
                      <a:srgbClr val="C4E1F2"/>
                    </a:solidFill>
                  </a:tcPr>
                </a:tc>
                <a:extLst>
                  <a:ext uri="{0D108BD9-81ED-4DB2-BD59-A6C34878D82A}">
                    <a16:rowId xmlns:a16="http://schemas.microsoft.com/office/drawing/2014/main" val="10001"/>
                  </a:ext>
                </a:extLst>
              </a:tr>
              <a:tr h="1362367">
                <a:tc>
                  <a:txBody>
                    <a:bodyPr/>
                    <a:lstStyle/>
                    <a:p>
                      <a:pPr marL="0" marR="0" algn="ctr">
                        <a:lnSpc>
                          <a:spcPct val="115000"/>
                        </a:lnSpc>
                        <a:spcBef>
                          <a:spcPts val="0"/>
                        </a:spcBef>
                        <a:spcAft>
                          <a:spcPts val="0"/>
                        </a:spcAft>
                      </a:pPr>
                      <a:r>
                        <a:rPr lang="en-US" sz="1600" dirty="0">
                          <a:effectLst/>
                          <a:latin typeface="Times New Roman" pitchFamily="18" charset="0"/>
                          <a:cs typeface="Times New Roman" pitchFamily="18" charset="0"/>
                        </a:rPr>
                        <a:t>2</a:t>
                      </a:r>
                      <a:endParaRPr lang="en-US" sz="16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r>
                        <a:rPr lang="en-US" sz="1800" i="1" dirty="0"/>
                        <a:t>Artificial Intelligence in the Judiciary and Its Compliance with the Right to a Fair Trial</a:t>
                      </a:r>
                      <a:r>
                        <a:rPr lang="en-US" sz="1800" dirty="0"/>
                        <a:t> – </a:t>
                      </a:r>
                      <a:r>
                        <a:rPr lang="en-US" sz="1800" dirty="0" err="1"/>
                        <a:t>Terzidou</a:t>
                      </a:r>
                      <a:r>
                        <a:rPr lang="en-US" sz="1800" dirty="0"/>
                        <a:t> (2022)</a:t>
                      </a:r>
                      <a:endParaRPr lang="en-US" sz="18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r>
                        <a:rPr lang="en-US" sz="1800" dirty="0"/>
                        <a:t>Qualitative analysis of AI in European courts under fair trial standards</a:t>
                      </a:r>
                      <a:endParaRPr lang="en-US" sz="18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r>
                        <a:rPr lang="en-US" sz="1800" dirty="0"/>
                        <a:t>Discusses AI support in case management and access to justice;. highlights transparency and ethics.</a:t>
                      </a:r>
                      <a:endParaRPr lang="en-US" sz="1800" dirty="0">
                        <a:effectLst/>
                        <a:latin typeface="Times New Roman" pitchFamily="18" charset="0"/>
                        <a:ea typeface="Calibri"/>
                        <a:cs typeface="Times New Roman" pitchFamily="18" charset="0"/>
                      </a:endParaRPr>
                    </a:p>
                  </a:txBody>
                  <a:tcPr marL="67838" marR="67838" marT="0" marB="0"/>
                </a:tc>
                <a:tc>
                  <a:txBody>
                    <a:bodyPr/>
                    <a:lstStyle/>
                    <a:p>
                      <a:pPr algn="just"/>
                      <a:r>
                        <a:rPr lang="en-US" sz="1800" b="0" dirty="0"/>
                        <a:t>Focused on Europe; no empirical testing;  limited coverage of complex cases.</a:t>
                      </a:r>
                    </a:p>
                  </a:txBody>
                  <a:tcPr marL="67838" marR="67838" marT="0" marB="0"/>
                </a:tc>
                <a:extLst>
                  <a:ext uri="{0D108BD9-81ED-4DB2-BD59-A6C34878D82A}">
                    <a16:rowId xmlns:a16="http://schemas.microsoft.com/office/drawing/2014/main" val="10002"/>
                  </a:ext>
                </a:extLst>
              </a:tr>
              <a:tr h="1293826">
                <a:tc>
                  <a:txBody>
                    <a:bodyPr/>
                    <a:lstStyle/>
                    <a:p>
                      <a:pPr marL="0" marR="0" algn="ctr">
                        <a:lnSpc>
                          <a:spcPct val="115000"/>
                        </a:lnSpc>
                        <a:spcBef>
                          <a:spcPts val="0"/>
                        </a:spcBef>
                        <a:spcAft>
                          <a:spcPts val="0"/>
                        </a:spcAft>
                      </a:pPr>
                      <a:r>
                        <a:rPr lang="en-US" sz="1600" dirty="0">
                          <a:effectLst/>
                          <a:latin typeface="Times New Roman" pitchFamily="18" charset="0"/>
                          <a:cs typeface="Times New Roman" pitchFamily="18" charset="0"/>
                        </a:rPr>
                        <a:t>3</a:t>
                      </a: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indent="0" algn="just" defTabSz="914400" rtl="0" eaLnBrk="1" fontAlgn="auto" latinLnBrk="0" hangingPunct="1">
                        <a:lnSpc>
                          <a:spcPct val="115000"/>
                        </a:lnSpc>
                        <a:spcBef>
                          <a:spcPts val="0"/>
                        </a:spcBef>
                        <a:spcAft>
                          <a:spcPts val="0"/>
                        </a:spcAft>
                        <a:buClrTx/>
                        <a:buSzTx/>
                        <a:buFontTx/>
                        <a:buNone/>
                        <a:tabLst/>
                        <a:defRPr/>
                      </a:pPr>
                      <a:r>
                        <a:rPr lang="en-US" sz="1800" i="1" dirty="0"/>
                        <a:t>Artificial Intelligence in the Judiciary: Uses and Threats</a:t>
                      </a:r>
                      <a:r>
                        <a:rPr lang="en-US" sz="1800" dirty="0"/>
                        <a:t> – Rocha &amp; Carvalho</a:t>
                      </a:r>
                      <a:endParaRPr lang="en-US" sz="18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r>
                        <a:rPr lang="en-US" sz="1800" dirty="0"/>
                        <a:t>Descriptive and analytical discussion of AI in judiciary</a:t>
                      </a:r>
                      <a:endParaRPr lang="en-US" sz="18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r>
                        <a:rPr lang="en-US" sz="1800" dirty="0"/>
                        <a:t>AI model assists judges in repetitive tasks and reduces backlog; human judges remain central.</a:t>
                      </a:r>
                      <a:endParaRPr lang="en-US" sz="18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r>
                        <a:rPr lang="en-US" sz="1800" dirty="0"/>
                        <a:t>Limited to descriptive analysis; no empirical testing or impact assessment.</a:t>
                      </a:r>
                      <a:endParaRPr lang="en-US" sz="1800" dirty="0">
                        <a:effectLst/>
                        <a:latin typeface="Times New Roman" pitchFamily="18" charset="0"/>
                        <a:ea typeface="Calibri"/>
                        <a:cs typeface="Times New Roman" pitchFamily="18" charset="0"/>
                      </a:endParaRPr>
                    </a:p>
                  </a:txBody>
                  <a:tcPr marL="67838" marR="67838" marT="0" marB="0">
                    <a:solidFill>
                      <a:srgbClr val="C4E1F2"/>
                    </a:solidFill>
                  </a:tcPr>
                </a:tc>
                <a:extLst>
                  <a:ext uri="{0D108BD9-81ED-4DB2-BD59-A6C34878D82A}">
                    <a16:rowId xmlns:a16="http://schemas.microsoft.com/office/drawing/2014/main" val="10003"/>
                  </a:ext>
                </a:extLst>
              </a:tr>
              <a:tr h="1016289">
                <a:tc>
                  <a:txBody>
                    <a:bodyPr/>
                    <a:lstStyle/>
                    <a:p>
                      <a:pPr marL="0" marR="0" algn="ctr">
                        <a:lnSpc>
                          <a:spcPct val="115000"/>
                        </a:lnSpc>
                        <a:spcBef>
                          <a:spcPts val="0"/>
                        </a:spcBef>
                        <a:spcAft>
                          <a:spcPts val="0"/>
                        </a:spcAft>
                      </a:pPr>
                      <a:r>
                        <a:rPr lang="en-US" sz="1600" dirty="0">
                          <a:effectLst/>
                          <a:latin typeface="Times New Roman" pitchFamily="18" charset="0"/>
                          <a:cs typeface="Times New Roman" pitchFamily="18" charset="0"/>
                        </a:rPr>
                        <a:t>4</a:t>
                      </a:r>
                      <a:endParaRPr lang="en-US" sz="1600" dirty="0">
                        <a:effectLst/>
                        <a:latin typeface="Times New Roman" pitchFamily="18" charset="0"/>
                        <a:ea typeface="Calibri"/>
                        <a:cs typeface="Times New Roman" pitchFamily="18" charset="0"/>
                      </a:endParaRPr>
                    </a:p>
                  </a:txBody>
                  <a:tcPr marL="67838" marR="67838" marT="0" marB="0"/>
                </a:tc>
                <a:tc>
                  <a:txBody>
                    <a:bodyPr/>
                    <a:lstStyle/>
                    <a:p>
                      <a:pPr marL="0" marR="0" indent="0" algn="just" defTabSz="914400" rtl="0" eaLnBrk="1" fontAlgn="auto" latinLnBrk="0" hangingPunct="1">
                        <a:lnSpc>
                          <a:spcPct val="115000"/>
                        </a:lnSpc>
                        <a:spcBef>
                          <a:spcPts val="0"/>
                        </a:spcBef>
                        <a:spcAft>
                          <a:spcPts val="0"/>
                        </a:spcAft>
                        <a:buClrTx/>
                        <a:buSzTx/>
                        <a:buFontTx/>
                        <a:buNone/>
                        <a:tabLst/>
                        <a:defRPr/>
                      </a:pPr>
                      <a:r>
                        <a:rPr lang="en-US" sz="1800" i="1" dirty="0"/>
                        <a:t>Human Judges in the Era of Artificial Intelligence: Challenges and Opportunities</a:t>
                      </a:r>
                      <a:r>
                        <a:rPr lang="en-US" sz="1800" dirty="0"/>
                        <a:t> – Xu (2022)</a:t>
                      </a:r>
                      <a:endParaRPr lang="en-US" sz="1800" b="0" i="1"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r>
                        <a:rPr lang="en-US" sz="1800" dirty="0"/>
                        <a:t>Conceptual and comparative analysis of human and AI-based judicial decision</a:t>
                      </a:r>
                      <a:endParaRPr lang="en-US" sz="1800" dirty="0">
                        <a:effectLst/>
                        <a:latin typeface="Times New Roman" pitchFamily="18" charset="0"/>
                        <a:ea typeface="Calibri"/>
                        <a:cs typeface="Times New Roman" pitchFamily="18" charset="0"/>
                      </a:endParaRPr>
                    </a:p>
                  </a:txBody>
                  <a:tcPr marL="67838" marR="67838" marT="0" marB="0"/>
                </a:tc>
                <a:tc>
                  <a:txBody>
                    <a:bodyPr/>
                    <a:lstStyle/>
                    <a:p>
                      <a:pPr algn="just"/>
                      <a:r>
                        <a:rPr lang="en-US" sz="1800" dirty="0"/>
                        <a:t>Demonstrates AI support for judges in case handling and efficiency, judges remain central in complex cases</a:t>
                      </a:r>
                    </a:p>
                  </a:txBody>
                  <a:tcPr marL="67838" marR="67838" marT="0" marB="0"/>
                </a:tc>
                <a:tc>
                  <a:txBody>
                    <a:bodyPr/>
                    <a:lstStyle/>
                    <a:p>
                      <a:pPr marL="0" marR="0" algn="just">
                        <a:lnSpc>
                          <a:spcPct val="115000"/>
                        </a:lnSpc>
                        <a:spcBef>
                          <a:spcPts val="0"/>
                        </a:spcBef>
                        <a:spcAft>
                          <a:spcPts val="0"/>
                        </a:spcAft>
                      </a:pPr>
                      <a:r>
                        <a:rPr lang="en-US" sz="1800" dirty="0"/>
                        <a:t>Conceptual study; no real dataset analysis </a:t>
                      </a:r>
                      <a:endParaRPr lang="en-US" sz="1800" dirty="0">
                        <a:effectLst/>
                        <a:latin typeface="Times New Roman" pitchFamily="18" charset="0"/>
                        <a:ea typeface="Calibri"/>
                        <a:cs typeface="Times New Roman" pitchFamily="18" charset="0"/>
                      </a:endParaRPr>
                    </a:p>
                  </a:txBody>
                  <a:tcPr marL="67838" marR="67838" marT="0" marB="0"/>
                </a:tc>
                <a:extLst>
                  <a:ext uri="{0D108BD9-81ED-4DB2-BD59-A6C34878D82A}">
                    <a16:rowId xmlns:a16="http://schemas.microsoft.com/office/drawing/2014/main" val="10004"/>
                  </a:ext>
                </a:extLst>
              </a:tr>
            </a:tbl>
          </a:graphicData>
        </a:graphic>
      </p:graphicFrame>
      <p:sp>
        <p:nvSpPr>
          <p:cNvPr id="4" name="Slide Number Placeholder 3"/>
          <p:cNvSpPr>
            <a:spLocks noGrp="1"/>
          </p:cNvSpPr>
          <p:nvPr>
            <p:ph type="sldNum" sz="quarter" idx="12"/>
          </p:nvPr>
        </p:nvSpPr>
        <p:spPr/>
        <p:txBody>
          <a:bodyPr/>
          <a:lstStyle/>
          <a:p>
            <a:fld id="{C02A2637-A5A3-49FA-B214-6E67543099EF}" type="slidenum">
              <a:rPr lang="en-US" smtClean="0"/>
              <a:t>4</a:t>
            </a:fld>
            <a:endParaRPr lang="en-US"/>
          </a:p>
        </p:txBody>
      </p:sp>
    </p:spTree>
    <p:extLst>
      <p:ext uri="{BB962C8B-B14F-4D97-AF65-F5344CB8AC3E}">
        <p14:creationId xmlns:p14="http://schemas.microsoft.com/office/powerpoint/2010/main" val="3095478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lumMod val="60000"/>
              <a:lumOff val="40000"/>
            </a:schemeClr>
          </a:solidFill>
        </p:spPr>
        <p:txBody>
          <a:bodyPr>
            <a:normAutofit/>
          </a:bodyPr>
          <a:lstStyle/>
          <a:p>
            <a:r>
              <a:rPr lang="en-US" sz="3700" b="1" dirty="0">
                <a:solidFill>
                  <a:schemeClr val="bg1"/>
                </a:solidFill>
                <a:latin typeface="Times New Roman" pitchFamily="18" charset="0"/>
                <a:cs typeface="Times New Roman" pitchFamily="18" charset="0"/>
              </a:rPr>
              <a:t>LITERATURE SURVEY (CONTD..,)</a:t>
            </a:r>
          </a:p>
        </p:txBody>
      </p:sp>
      <p:sp>
        <p:nvSpPr>
          <p:cNvPr id="5" name="Slide Number Placeholder 4"/>
          <p:cNvSpPr>
            <a:spLocks noGrp="1"/>
          </p:cNvSpPr>
          <p:nvPr>
            <p:ph type="sldNum" sz="quarter" idx="12"/>
          </p:nvPr>
        </p:nvSpPr>
        <p:spPr/>
        <p:txBody>
          <a:bodyPr/>
          <a:lstStyle/>
          <a:p>
            <a:fld id="{C02A2637-A5A3-49FA-B214-6E67543099EF}" type="slidenum">
              <a:rPr lang="en-US" smtClean="0"/>
              <a:t>5</a:t>
            </a:fld>
            <a:endParaRPr lang="en-US"/>
          </a:p>
        </p:txBody>
      </p:sp>
      <p:graphicFrame>
        <p:nvGraphicFramePr>
          <p:cNvPr id="9" name="Content Placeholder 5"/>
          <p:cNvGraphicFramePr>
            <a:graphicFrameLocks/>
          </p:cNvGraphicFramePr>
          <p:nvPr>
            <p:extLst>
              <p:ext uri="{D42A27DB-BD31-4B8C-83A1-F6EECF244321}">
                <p14:modId xmlns:p14="http://schemas.microsoft.com/office/powerpoint/2010/main" val="2254854118"/>
              </p:ext>
            </p:extLst>
          </p:nvPr>
        </p:nvGraphicFramePr>
        <p:xfrm>
          <a:off x="662940" y="1624584"/>
          <a:ext cx="11475720" cy="5364131"/>
        </p:xfrm>
        <a:graphic>
          <a:graphicData uri="http://schemas.openxmlformats.org/drawingml/2006/table">
            <a:tbl>
              <a:tblPr firstRow="1" firstCol="1" bandRow="1">
                <a:tableStyleId>{BC89EF96-8CEA-46FF-86C4-4CE0E7609802}</a:tableStyleId>
              </a:tblPr>
              <a:tblGrid>
                <a:gridCol w="702131">
                  <a:extLst>
                    <a:ext uri="{9D8B030D-6E8A-4147-A177-3AD203B41FA5}">
                      <a16:colId xmlns:a16="http://schemas.microsoft.com/office/drawing/2014/main" val="20000"/>
                    </a:ext>
                  </a:extLst>
                </a:gridCol>
                <a:gridCol w="2597329">
                  <a:extLst>
                    <a:ext uri="{9D8B030D-6E8A-4147-A177-3AD203B41FA5}">
                      <a16:colId xmlns:a16="http://schemas.microsoft.com/office/drawing/2014/main" val="20001"/>
                    </a:ext>
                  </a:extLst>
                </a:gridCol>
                <a:gridCol w="2864282">
                  <a:extLst>
                    <a:ext uri="{9D8B030D-6E8A-4147-A177-3AD203B41FA5}">
                      <a16:colId xmlns:a16="http://schemas.microsoft.com/office/drawing/2014/main" val="20002"/>
                    </a:ext>
                  </a:extLst>
                </a:gridCol>
                <a:gridCol w="2843030">
                  <a:extLst>
                    <a:ext uri="{9D8B030D-6E8A-4147-A177-3AD203B41FA5}">
                      <a16:colId xmlns:a16="http://schemas.microsoft.com/office/drawing/2014/main" val="1023101934"/>
                    </a:ext>
                  </a:extLst>
                </a:gridCol>
                <a:gridCol w="2468948">
                  <a:extLst>
                    <a:ext uri="{9D8B030D-6E8A-4147-A177-3AD203B41FA5}">
                      <a16:colId xmlns:a16="http://schemas.microsoft.com/office/drawing/2014/main" val="548304626"/>
                    </a:ext>
                  </a:extLst>
                </a:gridCol>
              </a:tblGrid>
              <a:tr h="396651">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S.No</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Article  Title </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Techniques Used</a:t>
                      </a: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Key Findings</a:t>
                      </a: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Limitations</a:t>
                      </a:r>
                    </a:p>
                  </a:txBody>
                  <a:tcPr marL="67838" marR="67838" marT="0" marB="0"/>
                </a:tc>
                <a:extLst>
                  <a:ext uri="{0D108BD9-81ED-4DB2-BD59-A6C34878D82A}">
                    <a16:rowId xmlns:a16="http://schemas.microsoft.com/office/drawing/2014/main" val="10000"/>
                  </a:ext>
                </a:extLst>
              </a:tr>
              <a:tr h="1121664">
                <a:tc>
                  <a:txBody>
                    <a:bodyPr/>
                    <a:lstStyle/>
                    <a:p>
                      <a:pPr marL="0" marR="0" algn="ctr">
                        <a:lnSpc>
                          <a:spcPct val="115000"/>
                        </a:lnSpc>
                        <a:spcBef>
                          <a:spcPts val="0"/>
                        </a:spcBef>
                        <a:spcAft>
                          <a:spcPts val="0"/>
                        </a:spcAft>
                      </a:pPr>
                      <a:r>
                        <a:rPr lang="en-US" sz="1600" dirty="0">
                          <a:effectLst/>
                          <a:latin typeface="Times New Roman" pitchFamily="18" charset="0"/>
                          <a:ea typeface="+mn-ea"/>
                          <a:cs typeface="Times New Roman" pitchFamily="18" charset="0"/>
                        </a:rPr>
                        <a:t>5</a:t>
                      </a: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r>
                        <a:rPr lang="en-US" sz="1800" i="1" dirty="0"/>
                        <a:t>Systems and Methods for Responsible AI</a:t>
                      </a:r>
                      <a:r>
                        <a:rPr lang="en-US" sz="1800" dirty="0"/>
                        <a:t> – US20240202351A1 (Jun 2024)</a:t>
                      </a:r>
                      <a:endParaRPr lang="en-US" sz="18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r>
                        <a:rPr lang="en-US" sz="1800" dirty="0"/>
                        <a:t>Responsible AI framework with bias detection and risk management across AI lifecycle</a:t>
                      </a:r>
                      <a:endParaRPr lang="en-US" sz="18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r>
                        <a:rPr lang="en-US" sz="1800" dirty="0"/>
                        <a:t>Demonstrates AI support for governance from training to post-deployment</a:t>
                      </a:r>
                      <a:endParaRPr lang="en-US" sz="18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r>
                        <a:rPr lang="en-US" sz="1800" dirty="0"/>
                        <a:t>Limited focus on generic technology, not adapted for courts.</a:t>
                      </a:r>
                      <a:endParaRPr lang="en-US" sz="1800" dirty="0">
                        <a:effectLst/>
                        <a:latin typeface="Times New Roman" pitchFamily="18" charset="0"/>
                        <a:ea typeface="Calibri"/>
                        <a:cs typeface="Times New Roman" pitchFamily="18" charset="0"/>
                      </a:endParaRPr>
                    </a:p>
                  </a:txBody>
                  <a:tcPr marL="67838" marR="67838" marT="0" marB="0">
                    <a:solidFill>
                      <a:srgbClr val="C4E1F2"/>
                    </a:solidFill>
                  </a:tcPr>
                </a:tc>
                <a:extLst>
                  <a:ext uri="{0D108BD9-81ED-4DB2-BD59-A6C34878D82A}">
                    <a16:rowId xmlns:a16="http://schemas.microsoft.com/office/drawing/2014/main" val="10001"/>
                  </a:ext>
                </a:extLst>
              </a:tr>
              <a:tr h="841249">
                <a:tc>
                  <a:txBody>
                    <a:bodyPr/>
                    <a:lstStyle/>
                    <a:p>
                      <a:pPr marL="0" marR="0" algn="ctr">
                        <a:lnSpc>
                          <a:spcPct val="115000"/>
                        </a:lnSpc>
                        <a:spcBef>
                          <a:spcPts val="0"/>
                        </a:spcBef>
                        <a:spcAft>
                          <a:spcPts val="0"/>
                        </a:spcAft>
                      </a:pPr>
                      <a:r>
                        <a:rPr lang="en-US" sz="1600" dirty="0">
                          <a:effectLst/>
                          <a:latin typeface="Times New Roman" pitchFamily="18" charset="0"/>
                          <a:ea typeface="+mn-ea"/>
                          <a:cs typeface="Times New Roman" pitchFamily="18" charset="0"/>
                        </a:rPr>
                        <a:t>6</a:t>
                      </a:r>
                      <a:endParaRPr lang="en-US" sz="16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r>
                        <a:rPr lang="en-US" sz="1800" dirty="0"/>
                        <a:t>Algorithmic Bias and the Right to Equality – Sujith &amp; Dinkar  (2022)</a:t>
                      </a:r>
                      <a:endParaRPr lang="en-US" sz="18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r>
                        <a:rPr lang="en-US" sz="1800" dirty="0"/>
                        <a:t>Legal and constitutional analysis of AI bias</a:t>
                      </a:r>
                      <a:endParaRPr lang="en-US" sz="18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r>
                        <a:rPr lang="en-US" sz="1800" dirty="0"/>
                        <a:t>Discusses AI reinforcing discrimination, recommends audits and rights-based governance.</a:t>
                      </a:r>
                      <a:endParaRPr lang="en-US" sz="18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r>
                        <a:rPr lang="en-US" sz="1800" dirty="0"/>
                        <a:t>Conceptual only, no empirical testing;</a:t>
                      </a:r>
                      <a:endParaRPr lang="en-US" sz="1800" dirty="0">
                        <a:effectLst/>
                        <a:latin typeface="Times New Roman" pitchFamily="18" charset="0"/>
                        <a:ea typeface="Calibri"/>
                        <a:cs typeface="Times New Roman" pitchFamily="18" charset="0"/>
                      </a:endParaRPr>
                    </a:p>
                  </a:txBody>
                  <a:tcPr marL="67838" marR="67838" marT="0" marB="0"/>
                </a:tc>
                <a:extLst>
                  <a:ext uri="{0D108BD9-81ED-4DB2-BD59-A6C34878D82A}">
                    <a16:rowId xmlns:a16="http://schemas.microsoft.com/office/drawing/2014/main" val="10002"/>
                  </a:ext>
                </a:extLst>
              </a:tr>
              <a:tr h="841249">
                <a:tc>
                  <a:txBody>
                    <a:bodyPr/>
                    <a:lstStyle/>
                    <a:p>
                      <a:pPr marL="0" marR="0" algn="ctr">
                        <a:lnSpc>
                          <a:spcPct val="115000"/>
                        </a:lnSpc>
                        <a:spcBef>
                          <a:spcPts val="0"/>
                        </a:spcBef>
                        <a:spcAft>
                          <a:spcPts val="0"/>
                        </a:spcAft>
                      </a:pPr>
                      <a:r>
                        <a:rPr lang="en-US" sz="1600" dirty="0">
                          <a:effectLst/>
                          <a:latin typeface="Times New Roman" pitchFamily="18" charset="0"/>
                          <a:ea typeface="+mn-ea"/>
                          <a:cs typeface="Times New Roman" pitchFamily="18" charset="0"/>
                        </a:rPr>
                        <a:t>7</a:t>
                      </a: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indent="0" algn="just" defTabSz="914400" rtl="0" eaLnBrk="1" fontAlgn="auto" latinLnBrk="0" hangingPunct="1">
                        <a:lnSpc>
                          <a:spcPct val="115000"/>
                        </a:lnSpc>
                        <a:spcBef>
                          <a:spcPts val="0"/>
                        </a:spcBef>
                        <a:spcAft>
                          <a:spcPts val="0"/>
                        </a:spcAft>
                        <a:buClrTx/>
                        <a:buSzTx/>
                        <a:buFontTx/>
                        <a:buNone/>
                        <a:tabLst/>
                        <a:defRPr/>
                      </a:pPr>
                      <a:r>
                        <a:rPr lang="en-US" sz="1800" i="1" dirty="0"/>
                        <a:t>AI and Law: Mitigating Bias in AI through Indian Laws</a:t>
                      </a:r>
                      <a:r>
                        <a:rPr lang="en-US" sz="1800" dirty="0"/>
                        <a:t> – Salaria &amp; Kaur (2025)</a:t>
                      </a:r>
                      <a:endParaRPr lang="en-US" sz="18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r>
                        <a:rPr lang="en-US" sz="1800" dirty="0"/>
                        <a:t>Conceptual analysis; reviews constitutional principles, laws, and judicial precedents</a:t>
                      </a:r>
                      <a:endParaRPr lang="en-US" sz="18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r>
                        <a:rPr lang="en-US" sz="1800" dirty="0"/>
                        <a:t>Discusses AI bias in India; recommends audits, inclusive datasets, and judicial oversight</a:t>
                      </a:r>
                      <a:endParaRPr lang="en-US" sz="18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r>
                        <a:rPr lang="en-US" sz="1800" dirty="0"/>
                        <a:t>Conceptual only, no empirical testing; India-focused</a:t>
                      </a:r>
                      <a:endParaRPr lang="en-US" sz="1800" dirty="0">
                        <a:effectLst/>
                        <a:latin typeface="Times New Roman" pitchFamily="18" charset="0"/>
                        <a:ea typeface="Calibri"/>
                        <a:cs typeface="Times New Roman" pitchFamily="18" charset="0"/>
                      </a:endParaRPr>
                    </a:p>
                  </a:txBody>
                  <a:tcPr marL="67838" marR="67838" marT="0" marB="0">
                    <a:solidFill>
                      <a:srgbClr val="C4E1F2"/>
                    </a:solidFill>
                  </a:tcPr>
                </a:tc>
                <a:extLst>
                  <a:ext uri="{0D108BD9-81ED-4DB2-BD59-A6C34878D82A}">
                    <a16:rowId xmlns:a16="http://schemas.microsoft.com/office/drawing/2014/main" val="10003"/>
                  </a:ext>
                </a:extLst>
              </a:tr>
              <a:tr h="1121664">
                <a:tc>
                  <a:txBody>
                    <a:bodyPr/>
                    <a:lstStyle/>
                    <a:p>
                      <a:pPr marL="0" marR="0" algn="ctr">
                        <a:lnSpc>
                          <a:spcPct val="115000"/>
                        </a:lnSpc>
                        <a:spcBef>
                          <a:spcPts val="0"/>
                        </a:spcBef>
                        <a:spcAft>
                          <a:spcPts val="0"/>
                        </a:spcAft>
                      </a:pPr>
                      <a:r>
                        <a:rPr lang="en-US" sz="1600" dirty="0">
                          <a:effectLst/>
                          <a:latin typeface="Times New Roman" pitchFamily="18" charset="0"/>
                          <a:ea typeface="+mn-ea"/>
                          <a:cs typeface="Times New Roman" pitchFamily="18" charset="0"/>
                        </a:rPr>
                        <a:t>8</a:t>
                      </a:r>
                      <a:endParaRPr lang="en-US" sz="1600" dirty="0">
                        <a:effectLst/>
                        <a:latin typeface="Times New Roman" pitchFamily="18" charset="0"/>
                        <a:ea typeface="Calibri"/>
                        <a:cs typeface="Times New Roman" pitchFamily="18" charset="0"/>
                      </a:endParaRPr>
                    </a:p>
                  </a:txBody>
                  <a:tcPr marL="67838" marR="67838" marT="0" marB="0"/>
                </a:tc>
                <a:tc>
                  <a:txBody>
                    <a:bodyPr/>
                    <a:lstStyle/>
                    <a:p>
                      <a:pPr marL="0" marR="0" indent="0" algn="just" defTabSz="914400" rtl="0" eaLnBrk="1" fontAlgn="auto" latinLnBrk="0" hangingPunct="1">
                        <a:lnSpc>
                          <a:spcPct val="115000"/>
                        </a:lnSpc>
                        <a:spcBef>
                          <a:spcPts val="0"/>
                        </a:spcBef>
                        <a:spcAft>
                          <a:spcPts val="0"/>
                        </a:spcAft>
                        <a:buClrTx/>
                        <a:buSzTx/>
                        <a:buFontTx/>
                        <a:buNone/>
                        <a:tabLst/>
                        <a:defRPr/>
                      </a:pPr>
                      <a:r>
                        <a:rPr lang="en-US" sz="1800" i="1" dirty="0"/>
                        <a:t>Systems and Methods for Model Fairness</a:t>
                      </a:r>
                      <a:r>
                        <a:rPr lang="en-US" sz="1800" dirty="0"/>
                        <a:t> – US12169766B2 (Dec 2024)</a:t>
                      </a:r>
                      <a:endParaRPr lang="en-US" sz="18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r>
                        <a:rPr lang="en-US" sz="1800" dirty="0"/>
                        <a:t>Automated bias detection; fairness monitoring;</a:t>
                      </a:r>
                      <a:endParaRPr lang="en-US" sz="18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r>
                        <a:rPr lang="en-US" sz="1800" dirty="0"/>
                        <a:t>Demonstrates automated fairness reports and analyzes sensitive attributes</a:t>
                      </a:r>
                      <a:endParaRPr lang="en-US" sz="18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r>
                        <a:rPr lang="en-US" sz="1800" dirty="0"/>
                        <a:t>Not specific to judiciary; requires adaptation</a:t>
                      </a:r>
                      <a:endParaRPr lang="en-US" sz="1800" dirty="0">
                        <a:effectLst/>
                        <a:latin typeface="Times New Roman" pitchFamily="18" charset="0"/>
                        <a:ea typeface="Calibri"/>
                        <a:cs typeface="Times New Roman" pitchFamily="18" charset="0"/>
                      </a:endParaRPr>
                    </a:p>
                  </a:txBody>
                  <a:tcPr marL="67838" marR="67838" marT="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51666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45626"/>
            <a:ext cx="11521440" cy="1219200"/>
          </a:xfrm>
          <a:solidFill>
            <a:schemeClr val="tx2">
              <a:lumMod val="60000"/>
              <a:lumOff val="40000"/>
            </a:schemeClr>
          </a:solidFill>
        </p:spPr>
        <p:txBody>
          <a:bodyPr>
            <a:normAutofit/>
          </a:bodyPr>
          <a:lstStyle/>
          <a:p>
            <a:r>
              <a:rPr lang="en-US" sz="3700" b="1" dirty="0">
                <a:solidFill>
                  <a:schemeClr val="bg1"/>
                </a:solidFill>
                <a:latin typeface="Times New Roman" pitchFamily="18" charset="0"/>
                <a:cs typeface="Times New Roman" pitchFamily="18" charset="0"/>
              </a:rPr>
              <a:t>3. RESEARCH GAPS</a:t>
            </a:r>
          </a:p>
        </p:txBody>
      </p:sp>
      <p:sp>
        <p:nvSpPr>
          <p:cNvPr id="3" name="Content Placeholder 2"/>
          <p:cNvSpPr>
            <a:spLocks noGrp="1"/>
          </p:cNvSpPr>
          <p:nvPr>
            <p:ph idx="1"/>
          </p:nvPr>
        </p:nvSpPr>
        <p:spPr>
          <a:xfrm>
            <a:off x="640080" y="1658619"/>
            <a:ext cx="11521440" cy="4827694"/>
          </a:xfrm>
        </p:spPr>
        <p:txBody>
          <a:bodyPr>
            <a:normAutofit/>
          </a:bodyPr>
          <a:lstStyle/>
          <a:p>
            <a:endParaRPr lang="en-US" sz="2800" dirty="0">
              <a:latin typeface="Times New Roman" panose="02020603050405020304" pitchFamily="18" charset="0"/>
              <a:cs typeface="Times New Roman" pitchFamily="18" charset="0"/>
            </a:endParaRPr>
          </a:p>
          <a:p>
            <a:r>
              <a:rPr lang="en-US" sz="2800" dirty="0">
                <a:latin typeface="Times New Roman" panose="02020603050405020304" pitchFamily="18" charset="0"/>
                <a:cs typeface="Times New Roman" pitchFamily="18" charset="0"/>
              </a:rPr>
              <a:t>Limited research on bias and fairness in ML-based judicial decision-support systems.</a:t>
            </a:r>
          </a:p>
          <a:p>
            <a:r>
              <a:rPr lang="en-US" sz="2800" dirty="0">
                <a:latin typeface="Times New Roman" panose="02020603050405020304" pitchFamily="18" charset="0"/>
                <a:cs typeface="Times New Roman" pitchFamily="18" charset="0"/>
              </a:rPr>
              <a:t>Lack of studies addressing temporal bias arising from evolving legal language and changing case patterns.</a:t>
            </a:r>
          </a:p>
          <a:p>
            <a:r>
              <a:rPr lang="en-US" sz="2800" dirty="0">
                <a:latin typeface="Times New Roman" panose="02020603050405020304" pitchFamily="18" charset="0"/>
                <a:cs typeface="Times New Roman" pitchFamily="18" charset="0"/>
              </a:rPr>
              <a:t>Insufficient analysis of how predictive models behave across different time periods and the resulting disparities.</a:t>
            </a:r>
          </a:p>
          <a:p>
            <a:r>
              <a:rPr lang="en-US" sz="2800" dirty="0">
                <a:latin typeface="Times New Roman" panose="02020603050405020304" pitchFamily="18" charset="0"/>
                <a:cs typeface="Times New Roman" pitchFamily="18" charset="0"/>
              </a:rPr>
              <a:t>Need for systematic fairness audits, interpretability, and robust evaluation metrics to ensure unbiased, transparent judicial decision support.</a:t>
            </a:r>
          </a:p>
          <a:p>
            <a:endParaRPr lang="en-US" sz="2800" dirty="0">
              <a:latin typeface="Times New Roman" panose="02020603050405020304"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C02A2637-A5A3-49FA-B214-6E67543099EF}" type="slidenum">
              <a:rPr lang="en-US" smtClean="0"/>
              <a:t>6</a:t>
            </a:fld>
            <a:endParaRPr lang="en-US"/>
          </a:p>
        </p:txBody>
      </p:sp>
    </p:spTree>
    <p:extLst>
      <p:ext uri="{BB962C8B-B14F-4D97-AF65-F5344CB8AC3E}">
        <p14:creationId xmlns:p14="http://schemas.microsoft.com/office/powerpoint/2010/main" val="1944416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558ED5"/>
          </a:solidFill>
        </p:spPr>
        <p:txBody>
          <a:bodyPr/>
          <a:lstStyle/>
          <a:p>
            <a:r>
              <a:rPr lang="en-US" sz="3700" b="1" dirty="0">
                <a:solidFill>
                  <a:schemeClr val="bg1"/>
                </a:solidFill>
                <a:latin typeface="Times New Roman" pitchFamily="18" charset="0"/>
                <a:cs typeface="Times New Roman" pitchFamily="18" charset="0"/>
              </a:rPr>
              <a:t>4. DATA PIPELINE FOR JUDICIAL DATASET</a:t>
            </a:r>
          </a:p>
        </p:txBody>
      </p:sp>
      <p:sp>
        <p:nvSpPr>
          <p:cNvPr id="4" name="Slide Number Placeholder 3"/>
          <p:cNvSpPr>
            <a:spLocks noGrp="1"/>
          </p:cNvSpPr>
          <p:nvPr>
            <p:ph type="sldNum" sz="quarter" idx="12"/>
          </p:nvPr>
        </p:nvSpPr>
        <p:spPr/>
        <p:txBody>
          <a:bodyPr/>
          <a:lstStyle/>
          <a:p>
            <a:fld id="{C02A2637-A5A3-49FA-B214-6E67543099EF}" type="slidenum">
              <a:rPr lang="en-US" smtClean="0"/>
              <a:t>7</a:t>
            </a:fld>
            <a:endParaRPr lang="en-US"/>
          </a:p>
        </p:txBody>
      </p:sp>
      <p:sp>
        <p:nvSpPr>
          <p:cNvPr id="6" name="Rectangle 1">
            <a:extLst>
              <a:ext uri="{FF2B5EF4-FFF2-40B4-BE49-F238E27FC236}">
                <a16:creationId xmlns:a16="http://schemas.microsoft.com/office/drawing/2014/main" id="{69A16313-90E7-E42B-EE59-E07F4814C425}"/>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3">
            <a:extLst>
              <a:ext uri="{FF2B5EF4-FFF2-40B4-BE49-F238E27FC236}">
                <a16:creationId xmlns:a16="http://schemas.microsoft.com/office/drawing/2014/main" id="{58D614A6-F77F-B99C-879B-EA8AF04B1D3D}"/>
              </a:ext>
            </a:extLst>
          </p:cNvPr>
          <p:cNvSpPr>
            <a:spLocks noChangeArrowheads="1"/>
          </p:cNvSpPr>
          <p:nvPr/>
        </p:nvSpPr>
        <p:spPr bwMode="auto">
          <a:xfrm>
            <a:off x="635598" y="2243554"/>
            <a:ext cx="11521440"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Data Collection: </a:t>
            </a:r>
            <a:r>
              <a:rPr lang="en-US" sz="2400" dirty="0">
                <a:latin typeface="Times New Roman" panose="02020603050405020304" pitchFamily="18" charset="0"/>
                <a:cs typeface="Times New Roman" panose="02020603050405020304" pitchFamily="18" charset="0"/>
              </a:rPr>
              <a:t>Supreme Court of India judgments (1990–2025) obtained from Indian Kanoon in PDF format</a:t>
            </a:r>
          </a:p>
          <a:p>
            <a:pPr marL="457200" indent="-4572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Data Extraction: </a:t>
            </a:r>
            <a:r>
              <a:rPr lang="en-US" sz="2400" dirty="0">
                <a:latin typeface="Times New Roman" panose="02020603050405020304" pitchFamily="18" charset="0"/>
                <a:cs typeface="Times New Roman" panose="02020603050405020304" pitchFamily="18" charset="0"/>
              </a:rPr>
              <a:t>Judgment text extracted using </a:t>
            </a:r>
            <a:r>
              <a:rPr lang="en-US" sz="2400" b="1" dirty="0" err="1">
                <a:latin typeface="Times New Roman" panose="02020603050405020304" pitchFamily="18" charset="0"/>
                <a:cs typeface="Times New Roman" panose="02020603050405020304" pitchFamily="18" charset="0"/>
              </a:rPr>
              <a:t>PDFPlumber</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and </a:t>
            </a:r>
            <a:r>
              <a:rPr lang="en-US" sz="2400" b="1" dirty="0" err="1">
                <a:latin typeface="Times New Roman" panose="02020603050405020304" pitchFamily="18" charset="0"/>
                <a:cs typeface="Times New Roman" panose="02020603050405020304" pitchFamily="18" charset="0"/>
              </a:rPr>
              <a:t>PyTesseract</a:t>
            </a:r>
            <a:r>
              <a:rPr lang="en-US" sz="2400" b="1" dirty="0">
                <a:latin typeface="Times New Roman" panose="02020603050405020304" pitchFamily="18" charset="0"/>
                <a:cs typeface="Times New Roman" panose="02020603050405020304" pitchFamily="18" charset="0"/>
              </a:rPr>
              <a:t> OCR </a:t>
            </a:r>
            <a:r>
              <a:rPr lang="en-US" sz="2400" dirty="0">
                <a:latin typeface="Times New Roman" panose="02020603050405020304" pitchFamily="18" charset="0"/>
                <a:cs typeface="Times New Roman" panose="02020603050405020304" pitchFamily="18" charset="0"/>
              </a:rPr>
              <a:t>and stored as raw </a:t>
            </a:r>
            <a:r>
              <a:rPr lang="en-US" sz="2400" b="1" dirty="0">
                <a:latin typeface="Times New Roman" panose="02020603050405020304" pitchFamily="18" charset="0"/>
                <a:cs typeface="Times New Roman" panose="02020603050405020304" pitchFamily="18" charset="0"/>
              </a:rPr>
              <a:t>JSON [</a:t>
            </a:r>
            <a:r>
              <a:rPr lang="en-US" sz="2400" b="1" dirty="0" err="1">
                <a:latin typeface="Times New Roman" panose="02020603050405020304" pitchFamily="18" charset="0"/>
                <a:cs typeface="Times New Roman" panose="02020603050405020304" pitchFamily="18" charset="0"/>
              </a:rPr>
              <a:t>extracted.json</a:t>
            </a:r>
            <a:r>
              <a:rPr lang="en-US" sz="2400" b="1" dirty="0">
                <a:latin typeface="Times New Roman" panose="02020603050405020304" pitchFamily="18" charset="0"/>
                <a:cs typeface="Times New Roman" panose="02020603050405020304" pitchFamily="18" charset="0"/>
              </a:rPr>
              <a:t>].</a:t>
            </a:r>
          </a:p>
          <a:p>
            <a:pPr marL="457200" indent="-4572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Data Cleaning: </a:t>
            </a:r>
            <a:r>
              <a:rPr lang="en-US" sz="2400" dirty="0">
                <a:latin typeface="Times New Roman" panose="02020603050405020304" pitchFamily="18" charset="0"/>
                <a:cs typeface="Times New Roman" panose="02020603050405020304" pitchFamily="18" charset="0"/>
              </a:rPr>
              <a:t>Removal of headers, footers, page numbers, and noise using regex, producing </a:t>
            </a:r>
            <a:r>
              <a:rPr lang="en-US" sz="2400" b="1" dirty="0" err="1">
                <a:latin typeface="Times New Roman" panose="02020603050405020304" pitchFamily="18" charset="0"/>
                <a:cs typeface="Times New Roman" panose="02020603050405020304" pitchFamily="18" charset="0"/>
              </a:rPr>
              <a:t>cleaned.json</a:t>
            </a:r>
            <a:r>
              <a:rPr lang="en-US" sz="2400" b="1" dirty="0">
                <a:latin typeface="Times New Roman" panose="02020603050405020304" pitchFamily="18" charset="0"/>
                <a:cs typeface="Times New Roman" panose="02020603050405020304" pitchFamily="18" charset="0"/>
              </a:rPr>
              <a:t>.</a:t>
            </a:r>
          </a:p>
          <a:p>
            <a:pPr marL="457200" indent="-4572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Semantic Parsing: </a:t>
            </a:r>
            <a:r>
              <a:rPr lang="en-US" sz="2400" dirty="0">
                <a:latin typeface="Times New Roman" panose="02020603050405020304" pitchFamily="18" charset="0"/>
                <a:cs typeface="Times New Roman" panose="02020603050405020304" pitchFamily="18" charset="0"/>
              </a:rPr>
              <a:t>Legal text processed using </a:t>
            </a:r>
            <a:r>
              <a:rPr lang="en-US" sz="2400" b="1" dirty="0" err="1">
                <a:latin typeface="Times New Roman" panose="02020603050405020304" pitchFamily="18" charset="0"/>
                <a:cs typeface="Times New Roman" panose="02020603050405020304" pitchFamily="18" charset="0"/>
              </a:rPr>
              <a:t>spaCy</a:t>
            </a:r>
            <a:r>
              <a:rPr lang="en-US" sz="2400" b="1" dirty="0">
                <a:latin typeface="Times New Roman" panose="02020603050405020304" pitchFamily="18" charset="0"/>
                <a:cs typeface="Times New Roman" panose="02020603050405020304" pitchFamily="18" charset="0"/>
              </a:rPr>
              <a:t> NLP</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BERT</a:t>
            </a:r>
            <a:r>
              <a:rPr lang="en-US" sz="2400" dirty="0">
                <a:latin typeface="Times New Roman" panose="02020603050405020304" pitchFamily="18" charset="0"/>
                <a:cs typeface="Times New Roman" panose="02020603050405020304" pitchFamily="18" charset="0"/>
              </a:rPr>
              <a:t>-based semantic extraction to preserve legal meaning, stored as </a:t>
            </a:r>
            <a:r>
              <a:rPr lang="en-US" sz="2400" b="1" dirty="0" err="1">
                <a:latin typeface="Times New Roman" panose="02020603050405020304" pitchFamily="18" charset="0"/>
                <a:cs typeface="Times New Roman" panose="02020603050405020304" pitchFamily="18" charset="0"/>
              </a:rPr>
              <a:t>parsed.json</a:t>
            </a:r>
            <a:r>
              <a:rPr lang="en-US" sz="2400" b="1" dirty="0">
                <a:latin typeface="Times New Roman" panose="02020603050405020304" pitchFamily="18" charset="0"/>
                <a:cs typeface="Times New Roman" panose="02020603050405020304" pitchFamily="18" charset="0"/>
              </a:rPr>
              <a:t>.</a:t>
            </a:r>
          </a:p>
          <a:p>
            <a:pPr marL="457200" indent="-4572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Semantic Validation: </a:t>
            </a:r>
            <a:r>
              <a:rPr lang="en-US" sz="2400" dirty="0">
                <a:latin typeface="Times New Roman" panose="02020603050405020304" pitchFamily="18" charset="0"/>
                <a:cs typeface="Times New Roman" panose="02020603050405020304" pitchFamily="18" charset="0"/>
              </a:rPr>
              <a:t>Re-parsing to recover missed legal content and resulting in the final dataset </a:t>
            </a:r>
            <a:r>
              <a:rPr lang="en-US" sz="2400" b="1" dirty="0">
                <a:latin typeface="Times New Roman" panose="02020603050405020304" pitchFamily="18" charset="0"/>
                <a:cs typeface="Times New Roman" panose="02020603050405020304" pitchFamily="18" charset="0"/>
              </a:rPr>
              <a:t>parsed-</a:t>
            </a:r>
            <a:r>
              <a:rPr lang="en-US" sz="2400" b="1" dirty="0" err="1">
                <a:latin typeface="Times New Roman" panose="02020603050405020304" pitchFamily="18" charset="0"/>
                <a:cs typeface="Times New Roman" panose="02020603050405020304" pitchFamily="18" charset="0"/>
              </a:rPr>
              <a:t>final.json</a:t>
            </a:r>
            <a:r>
              <a:rPr lang="en-US" sz="2400" b="1" dirty="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pPr algn="ctr"/>
            <a:r>
              <a:rPr lang="en-US" sz="2800" dirty="0">
                <a:latin typeface="Times New Roman" panose="02020603050405020304" pitchFamily="18" charset="0"/>
                <a:cs typeface="Times New Roman" panose="02020603050405020304" pitchFamily="18" charset="0"/>
              </a:rPr>
              <a:t>The final JSON is prepared for ML-based prediction and fairness evaluation.</a:t>
            </a:r>
          </a:p>
          <a:p>
            <a:endParaRPr lang="en-US" sz="2400" b="1"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08257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0304F-08F3-8EFA-1049-DCE894447A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421D13-4A32-3D8F-FE7B-40E6B832A7D8}"/>
              </a:ext>
            </a:extLst>
          </p:cNvPr>
          <p:cNvSpPr>
            <a:spLocks noGrp="1"/>
          </p:cNvSpPr>
          <p:nvPr>
            <p:ph type="title"/>
          </p:nvPr>
        </p:nvSpPr>
        <p:spPr>
          <a:solidFill>
            <a:srgbClr val="558ED5"/>
          </a:solidFill>
        </p:spPr>
        <p:txBody>
          <a:bodyPr>
            <a:normAutofit fontScale="90000"/>
          </a:bodyPr>
          <a:lstStyle/>
          <a:p>
            <a:r>
              <a:rPr lang="en-US" sz="3700" b="1" dirty="0">
                <a:solidFill>
                  <a:schemeClr val="bg1"/>
                </a:solidFill>
                <a:latin typeface="Times New Roman" pitchFamily="18" charset="0"/>
                <a:cs typeface="Times New Roman" pitchFamily="18" charset="0"/>
              </a:rPr>
              <a:t>5. </a:t>
            </a:r>
            <a:r>
              <a:rPr lang="en-US" sz="4000" dirty="0">
                <a:solidFill>
                  <a:schemeClr val="bg1"/>
                </a:solidFill>
              </a:rPr>
              <a:t>Proposed Experimental Design for Temporal Fairness Audit</a:t>
            </a:r>
            <a:endParaRPr lang="en-US" sz="3700" b="1" dirty="0">
              <a:solidFill>
                <a:schemeClr val="bg1"/>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1CF2CB07-B1C0-8377-DC79-0F64BE635F22}"/>
              </a:ext>
            </a:extLst>
          </p:cNvPr>
          <p:cNvSpPr>
            <a:spLocks noGrp="1"/>
          </p:cNvSpPr>
          <p:nvPr>
            <p:ph type="sldNum" sz="quarter" idx="12"/>
          </p:nvPr>
        </p:nvSpPr>
        <p:spPr/>
        <p:txBody>
          <a:bodyPr/>
          <a:lstStyle/>
          <a:p>
            <a:fld id="{C02A2637-A5A3-49FA-B214-6E67543099EF}" type="slidenum">
              <a:rPr lang="en-US" smtClean="0"/>
              <a:t>8</a:t>
            </a:fld>
            <a:endParaRPr lang="en-US"/>
          </a:p>
        </p:txBody>
      </p:sp>
      <p:sp>
        <p:nvSpPr>
          <p:cNvPr id="6" name="Rectangle 1">
            <a:extLst>
              <a:ext uri="{FF2B5EF4-FFF2-40B4-BE49-F238E27FC236}">
                <a16:creationId xmlns:a16="http://schemas.microsoft.com/office/drawing/2014/main" id="{6D05EA3C-F303-4E6E-C38B-9538388D3462}"/>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 name="Picture 9">
            <a:extLst>
              <a:ext uri="{FF2B5EF4-FFF2-40B4-BE49-F238E27FC236}">
                <a16:creationId xmlns:a16="http://schemas.microsoft.com/office/drawing/2014/main" id="{B6A7E155-FD1D-A179-AC93-7E858D0377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2798" y="1512145"/>
            <a:ext cx="5821682" cy="5840913"/>
          </a:xfrm>
          <a:prstGeom prst="rect">
            <a:avLst/>
          </a:prstGeom>
        </p:spPr>
      </p:pic>
    </p:spTree>
    <p:extLst>
      <p:ext uri="{BB962C8B-B14F-4D97-AF65-F5344CB8AC3E}">
        <p14:creationId xmlns:p14="http://schemas.microsoft.com/office/powerpoint/2010/main" val="35924473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558ED5"/>
          </a:solidFill>
        </p:spPr>
        <p:txBody>
          <a:bodyPr/>
          <a:lstStyle/>
          <a:p>
            <a:r>
              <a:rPr lang="en-US" sz="3700" b="1" dirty="0">
                <a:solidFill>
                  <a:schemeClr val="bg1"/>
                </a:solidFill>
                <a:latin typeface="Times New Roman" pitchFamily="18" charset="0"/>
                <a:cs typeface="Times New Roman" pitchFamily="18" charset="0"/>
              </a:rPr>
              <a:t>6. REFERENCES</a:t>
            </a:r>
          </a:p>
        </p:txBody>
      </p:sp>
      <p:sp>
        <p:nvSpPr>
          <p:cNvPr id="4" name="Slide Number Placeholder 3"/>
          <p:cNvSpPr>
            <a:spLocks noGrp="1"/>
          </p:cNvSpPr>
          <p:nvPr>
            <p:ph type="sldNum" sz="quarter" idx="12"/>
          </p:nvPr>
        </p:nvSpPr>
        <p:spPr/>
        <p:txBody>
          <a:bodyPr/>
          <a:lstStyle/>
          <a:p>
            <a:fld id="{C02A2637-A5A3-49FA-B214-6E67543099EF}" type="slidenum">
              <a:rPr lang="en-US" smtClean="0"/>
              <a:t>9</a:t>
            </a:fld>
            <a:endParaRPr lang="en-US"/>
          </a:p>
        </p:txBody>
      </p:sp>
      <p:sp>
        <p:nvSpPr>
          <p:cNvPr id="9" name="TextBox 8">
            <a:extLst>
              <a:ext uri="{FF2B5EF4-FFF2-40B4-BE49-F238E27FC236}">
                <a16:creationId xmlns:a16="http://schemas.microsoft.com/office/drawing/2014/main" id="{8F6105DD-ECD1-61AD-EFD4-2C60B893779B}"/>
              </a:ext>
            </a:extLst>
          </p:cNvPr>
          <p:cNvSpPr txBox="1"/>
          <p:nvPr/>
        </p:nvSpPr>
        <p:spPr>
          <a:xfrm>
            <a:off x="666974" y="1905000"/>
            <a:ext cx="11521440" cy="3416320"/>
          </a:xfrm>
          <a:prstGeom prst="rect">
            <a:avLst/>
          </a:prstGeom>
          <a:noFill/>
        </p:spPr>
        <p:txBody>
          <a:bodyPr wrap="square" rtlCol="0">
            <a:spAutoFit/>
          </a:bodyPr>
          <a:lstStyle/>
          <a:p>
            <a:pPr marL="342900" indent="-342900">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Bhupatiraju</a:t>
            </a:r>
            <a:r>
              <a:rPr lang="en-US" sz="2400" dirty="0">
                <a:latin typeface="Times New Roman" panose="02020603050405020304" pitchFamily="18" charset="0"/>
                <a:cs typeface="Times New Roman" panose="02020603050405020304" pitchFamily="18" charset="0"/>
              </a:rPr>
              <a:t>, R., Chen, X., &amp; Joshi, A. (2025). </a:t>
            </a:r>
            <a:r>
              <a:rPr lang="en-US" sz="2400" i="1" dirty="0">
                <a:latin typeface="Times New Roman" panose="02020603050405020304" pitchFamily="18" charset="0"/>
                <a:cs typeface="Times New Roman" panose="02020603050405020304" pitchFamily="18" charset="0"/>
              </a:rPr>
              <a:t>The promise of machine learning for the courts of India</a:t>
            </a:r>
            <a:r>
              <a:rPr lang="en-US" sz="2400" dirty="0">
                <a:latin typeface="Times New Roman" panose="02020603050405020304" pitchFamily="18" charset="0"/>
                <a:cs typeface="Times New Roman" panose="02020603050405020304" pitchFamily="18" charset="0"/>
              </a:rPr>
              <a:t>. Journal of Legal Analytics and AI Applications</a:t>
            </a:r>
          </a:p>
          <a:p>
            <a:pPr marL="342900" indent="-342900">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Terzidou</a:t>
            </a:r>
            <a:r>
              <a:rPr lang="en-US" sz="2400" dirty="0">
                <a:latin typeface="Times New Roman" panose="02020603050405020304" pitchFamily="18" charset="0"/>
                <a:cs typeface="Times New Roman" panose="02020603050405020304" pitchFamily="18" charset="0"/>
              </a:rPr>
              <a:t>, M. (2022). </a:t>
            </a:r>
            <a:r>
              <a:rPr lang="en-US" sz="2400" i="1" dirty="0">
                <a:latin typeface="Times New Roman" panose="02020603050405020304" pitchFamily="18" charset="0"/>
                <a:cs typeface="Times New Roman" panose="02020603050405020304" pitchFamily="18" charset="0"/>
              </a:rPr>
              <a:t>The use of artificial intelligence in the judiciary and its compliance with the right to a fair trial</a:t>
            </a:r>
            <a:r>
              <a:rPr lang="en-US" sz="2400" dirty="0">
                <a:latin typeface="Times New Roman" panose="02020603050405020304" pitchFamily="18" charset="0"/>
                <a:cs typeface="Times New Roman" panose="02020603050405020304" pitchFamily="18" charset="0"/>
              </a:rPr>
              <a:t>. European Journal of Law and Technology</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Rocha, C., &amp; Carvalho, J. (2024). </a:t>
            </a:r>
            <a:r>
              <a:rPr lang="en-US" sz="2400" i="1" dirty="0">
                <a:latin typeface="Times New Roman" panose="02020603050405020304" pitchFamily="18" charset="0"/>
                <a:cs typeface="Times New Roman" panose="02020603050405020304" pitchFamily="18" charset="0"/>
              </a:rPr>
              <a:t>Artificial intelligence in the judiciary: Uses and threats</a:t>
            </a:r>
            <a:r>
              <a:rPr lang="en-US" sz="2400" dirty="0">
                <a:latin typeface="Times New Roman" panose="02020603050405020304" pitchFamily="18" charset="0"/>
                <a:cs typeface="Times New Roman" panose="02020603050405020304" pitchFamily="18" charset="0"/>
              </a:rPr>
              <a:t>. International Journal of AI and Law</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Xu, Y. (2022). </a:t>
            </a:r>
            <a:r>
              <a:rPr lang="en-US" sz="2400" i="1" dirty="0">
                <a:latin typeface="Times New Roman" panose="02020603050405020304" pitchFamily="18" charset="0"/>
                <a:cs typeface="Times New Roman" panose="02020603050405020304" pitchFamily="18" charset="0"/>
              </a:rPr>
              <a:t>Human judges in the era of artificial intelligence: Challenges and opportunities</a:t>
            </a:r>
            <a:r>
              <a:rPr lang="en-US" sz="2400" dirty="0">
                <a:latin typeface="Times New Roman" panose="02020603050405020304" pitchFamily="18" charset="0"/>
                <a:cs typeface="Times New Roman" panose="02020603050405020304" pitchFamily="18" charset="0"/>
              </a:rPr>
              <a:t>. AI &amp; Society</a:t>
            </a:r>
          </a:p>
          <a:p>
            <a:pPr marL="34290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63593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558ED5"/>
          </a:solidFill>
        </p:spPr>
        <p:txBody>
          <a:bodyPr>
            <a:normAutofit/>
          </a:bodyPr>
          <a:lstStyle/>
          <a:p>
            <a:r>
              <a:rPr lang="en-US" sz="3700" b="1" dirty="0">
                <a:solidFill>
                  <a:schemeClr val="bg1"/>
                </a:solidFill>
                <a:latin typeface="Times New Roman" pitchFamily="18" charset="0"/>
                <a:cs typeface="Times New Roman" pitchFamily="18" charset="0"/>
              </a:rPr>
              <a:t>REFERENCES (CONTD..,)</a:t>
            </a:r>
          </a:p>
        </p:txBody>
      </p:sp>
      <p:sp>
        <p:nvSpPr>
          <p:cNvPr id="3" name="Content Placeholder 2"/>
          <p:cNvSpPr>
            <a:spLocks noGrp="1"/>
          </p:cNvSpPr>
          <p:nvPr>
            <p:ph idx="1"/>
          </p:nvPr>
        </p:nvSpPr>
        <p:spPr>
          <a:xfrm>
            <a:off x="640080" y="1706880"/>
            <a:ext cx="11521440" cy="5315374"/>
          </a:xfrm>
        </p:spPr>
        <p:txBody>
          <a:bodyPr>
            <a:noAutofit/>
          </a:bodyPr>
          <a:lstStyle/>
          <a:p>
            <a:pPr algn="just"/>
            <a:r>
              <a:rPr lang="en-US" sz="2400" dirty="0">
                <a:latin typeface="Times New Roman" panose="02020603050405020304" pitchFamily="18" charset="0"/>
                <a:cs typeface="Times New Roman" panose="02020603050405020304" pitchFamily="18" charset="0"/>
              </a:rPr>
              <a:t>Sujith, P. D., &amp; Dinkar, V. R. (2021). </a:t>
            </a:r>
            <a:r>
              <a:rPr lang="en-US" sz="2400" i="1" dirty="0">
                <a:latin typeface="Times New Roman" panose="02020603050405020304" pitchFamily="18" charset="0"/>
                <a:cs typeface="Times New Roman" panose="02020603050405020304" pitchFamily="18" charset="0"/>
              </a:rPr>
              <a:t>Algorithmic bias and the right to equality: Reimagining constitutional guarantees in the age of artificial intelligence</a:t>
            </a:r>
            <a:r>
              <a:rPr lang="en-US" sz="2400" dirty="0">
                <a:latin typeface="Times New Roman" panose="02020603050405020304" pitchFamily="18" charset="0"/>
                <a:cs typeface="Times New Roman" panose="02020603050405020304" pitchFamily="18" charset="0"/>
              </a:rPr>
              <a:t>. Indian Journal of Constitutional Law</a:t>
            </a:r>
          </a:p>
          <a:p>
            <a:pPr algn="just"/>
            <a:r>
              <a:rPr lang="en-US" sz="2400" dirty="0">
                <a:latin typeface="Times New Roman" panose="02020603050405020304" pitchFamily="18" charset="0"/>
                <a:cs typeface="Times New Roman" panose="02020603050405020304" pitchFamily="18" charset="0"/>
              </a:rPr>
              <a:t>Salaria, R., &amp; Kaur, P. (2025). </a:t>
            </a:r>
            <a:r>
              <a:rPr lang="en-US" sz="2400" i="1" dirty="0">
                <a:latin typeface="Times New Roman" panose="02020603050405020304" pitchFamily="18" charset="0"/>
                <a:cs typeface="Times New Roman" panose="02020603050405020304" pitchFamily="18" charset="0"/>
              </a:rPr>
              <a:t>AI and law: Mitigating bias in AI through Indian laws</a:t>
            </a:r>
            <a:r>
              <a:rPr lang="en-US" sz="2400" dirty="0">
                <a:latin typeface="Times New Roman" panose="02020603050405020304" pitchFamily="18" charset="0"/>
                <a:cs typeface="Times New Roman" panose="02020603050405020304" pitchFamily="18" charset="0"/>
              </a:rPr>
              <a:t>. Journal of AI Ethics and Policy</a:t>
            </a:r>
          </a:p>
          <a:p>
            <a:pPr algn="just"/>
            <a:r>
              <a:rPr lang="en-US" sz="2400" dirty="0">
                <a:latin typeface="Times New Roman" panose="02020603050405020304" pitchFamily="18" charset="0"/>
                <a:cs typeface="Times New Roman" panose="02020603050405020304" pitchFamily="18" charset="0"/>
              </a:rPr>
              <a:t>US12169766B2. (2024). </a:t>
            </a:r>
            <a:r>
              <a:rPr lang="en-US" sz="2400" i="1" dirty="0">
                <a:latin typeface="Times New Roman" panose="02020603050405020304" pitchFamily="18" charset="0"/>
                <a:cs typeface="Times New Roman" panose="02020603050405020304" pitchFamily="18" charset="0"/>
              </a:rPr>
              <a:t>Systems and methods for model fairness</a:t>
            </a:r>
            <a:r>
              <a:rPr lang="en-US" sz="2400" dirty="0">
                <a:latin typeface="Times New Roman" panose="02020603050405020304" pitchFamily="18" charset="0"/>
                <a:cs typeface="Times New Roman" panose="02020603050405020304" pitchFamily="18" charset="0"/>
              </a:rPr>
              <a:t>. Google Patents. </a:t>
            </a:r>
            <a:r>
              <a:rPr lang="en-US" sz="2400" dirty="0">
                <a:latin typeface="Times New Roman" panose="02020603050405020304" pitchFamily="18" charset="0"/>
                <a:cs typeface="Times New Roman" panose="02020603050405020304" pitchFamily="18" charset="0"/>
                <a:hlinkClick r:id="rId2"/>
              </a:rPr>
              <a:t>https://patents.google.com/patent/US12169766B2</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US20240202351A1. (2024). </a:t>
            </a:r>
            <a:r>
              <a:rPr lang="en-US" sz="2400" i="1" dirty="0">
                <a:latin typeface="Times New Roman" panose="02020603050405020304" pitchFamily="18" charset="0"/>
                <a:cs typeface="Times New Roman" panose="02020603050405020304" pitchFamily="18" charset="0"/>
              </a:rPr>
              <a:t>Systems and methods for responsible AI</a:t>
            </a:r>
            <a:r>
              <a:rPr lang="en-US" sz="2400" dirty="0">
                <a:latin typeface="Times New Roman" panose="02020603050405020304" pitchFamily="18" charset="0"/>
                <a:cs typeface="Times New Roman" panose="02020603050405020304" pitchFamily="18" charset="0"/>
              </a:rPr>
              <a:t>. Google Patents. </a:t>
            </a:r>
            <a:r>
              <a:rPr lang="en-US" sz="2400" dirty="0">
                <a:latin typeface="Times New Roman" panose="02020603050405020304" pitchFamily="18" charset="0"/>
                <a:cs typeface="Times New Roman" panose="02020603050405020304" pitchFamily="18" charset="0"/>
                <a:hlinkClick r:id="rId3"/>
              </a:rPr>
              <a:t>https://patents.google.com/patent/US20240202351A1</a:t>
            </a:r>
            <a:endParaRPr lang="en-US" sz="2400" dirty="0">
              <a:latin typeface="Times New Roman" panose="02020603050405020304"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C02A2637-A5A3-49FA-B214-6E67543099EF}" type="slidenum">
              <a:rPr lang="en-US" smtClean="0"/>
              <a:t>10</a:t>
            </a:fld>
            <a:endParaRPr lang="en-US" dirty="0"/>
          </a:p>
        </p:txBody>
      </p:sp>
    </p:spTree>
    <p:extLst>
      <p:ext uri="{BB962C8B-B14F-4D97-AF65-F5344CB8AC3E}">
        <p14:creationId xmlns:p14="http://schemas.microsoft.com/office/powerpoint/2010/main" val="190899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819401"/>
            <a:ext cx="11521440" cy="1219200"/>
          </a:xfrm>
        </p:spPr>
        <p:txBody>
          <a:bodyPr>
            <a:normAutofit fontScale="90000"/>
          </a:bodyPr>
          <a:lstStyle/>
          <a:p>
            <a:r>
              <a:rPr lang="en-US" sz="10000" b="1" dirty="0">
                <a:solidFill>
                  <a:schemeClr val="tx2">
                    <a:lumMod val="60000"/>
                    <a:lumOff val="40000"/>
                  </a:schemeClr>
                </a:solidFill>
                <a:latin typeface="Times New Roman" pitchFamily="18" charset="0"/>
                <a:cs typeface="Times New Roman" pitchFamily="18" charset="0"/>
              </a:rPr>
              <a:t>Thank You</a:t>
            </a:r>
          </a:p>
        </p:txBody>
      </p:sp>
      <p:sp>
        <p:nvSpPr>
          <p:cNvPr id="3" name="Slide Number Placeholder 2"/>
          <p:cNvSpPr>
            <a:spLocks noGrp="1"/>
          </p:cNvSpPr>
          <p:nvPr>
            <p:ph type="sldNum" sz="quarter" idx="12"/>
          </p:nvPr>
        </p:nvSpPr>
        <p:spPr/>
        <p:txBody>
          <a:bodyPr/>
          <a:lstStyle/>
          <a:p>
            <a:fld id="{C02A2637-A5A3-49FA-B214-6E67543099EF}" type="slidenum">
              <a:rPr lang="en-US" smtClean="0"/>
              <a:t>11</a:t>
            </a:fld>
            <a:endParaRPr lang="en-US"/>
          </a:p>
        </p:txBody>
      </p:sp>
    </p:spTree>
    <p:extLst>
      <p:ext uri="{BB962C8B-B14F-4D97-AF65-F5344CB8AC3E}">
        <p14:creationId xmlns:p14="http://schemas.microsoft.com/office/powerpoint/2010/main" val="27503980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9590</TotalTime>
  <Words>1053</Words>
  <Application>Microsoft Office PowerPoint</Application>
  <PresentationFormat>Custom</PresentationFormat>
  <Paragraphs>108</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Times New Roman</vt:lpstr>
      <vt:lpstr>Wingdings</vt:lpstr>
      <vt:lpstr>Office Theme</vt:lpstr>
      <vt:lpstr>Auditing Algorithmic Fairness in Judicial AI: Empirical Evidence and a Framework for Indian Courts</vt:lpstr>
      <vt:lpstr>CONTENTS</vt:lpstr>
      <vt:lpstr>1. INTRODUCTION</vt:lpstr>
      <vt:lpstr>2.LITERATURE SURVEY</vt:lpstr>
      <vt:lpstr>LITERATURE SURVEY (CONTD..,)</vt:lpstr>
      <vt:lpstr>3. RESEARCH GAPS</vt:lpstr>
      <vt:lpstr>4. DATA PIPELINE FOR JUDICIAL DATASET</vt:lpstr>
      <vt:lpstr>5. Proposed Experimental Design for Temporal Fairness Audit</vt:lpstr>
      <vt:lpstr>6. REFERENCES</vt:lpstr>
      <vt:lpstr>REFERENCES (CONTD..,)</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APPROACH TO REDUCE LOAD ON CHANGE IMPACT ANALYSIS OVER SOFTWARE DEVELOPMENT</dc:title>
  <dc:creator>admin</dc:creator>
  <cp:lastModifiedBy>Nitesh Pradhan</cp:lastModifiedBy>
  <cp:revision>127</cp:revision>
  <dcterms:created xsi:type="dcterms:W3CDTF">2020-07-13T09:49:45Z</dcterms:created>
  <dcterms:modified xsi:type="dcterms:W3CDTF">2026-02-24T15:45:47Z</dcterms:modified>
</cp:coreProperties>
</file>